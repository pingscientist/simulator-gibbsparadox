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3"/>
    <p:sldId id="303" r:id="rId4"/>
    <p:sldId id="265" r:id="rId5"/>
    <p:sldId id="304" r:id="rId6"/>
    <p:sldId id="269" r:id="rId7"/>
    <p:sldId id="306" r:id="rId8"/>
    <p:sldId id="258" r:id="rId9"/>
    <p:sldId id="299" r:id="rId10"/>
    <p:sldId id="301" r:id="rId11"/>
    <p:sldId id="300" r:id="rId12"/>
    <p:sldId id="833" r:id="rId13"/>
    <p:sldId id="268" r:id="rId14"/>
    <p:sldId id="310" r:id="rId15"/>
    <p:sldId id="307" r:id="rId16"/>
    <p:sldId id="260" r:id="rId17"/>
    <p:sldId id="309" r:id="rId18"/>
    <p:sldId id="305" r:id="rId19"/>
    <p:sldId id="308" r:id="rId20"/>
    <p:sldId id="262" r:id="rId21"/>
    <p:sldId id="270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FFFF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4FCD9-544A-412E-886C-B44CD5CECBF1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F19F0-565D-40E6-B318-B2F80703F4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900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566E776-DFE4-4427-8131-574B6DF7A02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61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F996D3-7B9D-4386-A95A-E0EE5F805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6D30E4-4A5D-4230-8D68-5F3A6FE65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0DB7E5-FD3F-4398-BF35-1E7D3BF2D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8D9834-2EB4-4827-9EF0-6D04E7D95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DE0F7A-DDAB-44BB-A19F-F7A8ACD3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061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B526B-EC8B-4BBE-98B2-650C10C29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861FEE-143B-49AB-8E9F-9108B52C0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C4A666-3F9E-48BD-BAB7-783E252DC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CCB94D-01DD-4CC6-8CE0-A86FE1B8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E2035E-0060-473F-9771-8DAF0F2E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00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EBF3B6-29C7-47D8-8AB0-A6AC6643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64846D-D2AC-41A9-B8A2-6BEE7F06E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675829-A40F-4593-859A-224F8AFF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7405E4-726A-474E-BD22-5BFCFBB3A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9DBEA6-B225-4720-B29B-7F4DDC28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47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C4A082-8047-4D84-9820-5006BB9F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CA3F4B-3173-496E-8B47-33839A76A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40EC3A-A6A1-4B51-B0E1-3BC565418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396B02-9688-45D5-9C0A-FE2011B4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C4B99F-032E-4FBD-9FC5-816CB166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775C04-455F-4BE1-AACD-4C9CBD18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93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D0E31C-B12C-4F87-BBA2-A13449BF7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DFBFAAC-73B0-424E-A25D-CBF2811F8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07F8754-4AA4-4CAF-8935-AEAF9FE6D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0532E2A-F57F-44E9-B3E4-037733B0AC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4DDB246-90AC-4A50-8B8D-4A727B075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4D9DBB9-BCD3-4568-816F-8F326C5A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0EA3C4D-46A8-41E3-AD38-BBF13F1F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2F9DF8E-F7E4-4242-B024-0366845F8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1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77937-0160-43B6-B65D-96FB82F9D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EFC3ADB-73FC-47EE-A1F7-BB02BBCF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C92B267-B370-4DC2-9E52-E8E78AC2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4BA58AF-3DD4-4E08-AE4C-92F70D661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814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C0F60F4-4D13-407D-A0FD-0AF04FCB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BE831B7-5AF5-4B8C-B879-63A58F81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77625F-1797-45ED-90BD-04B8341C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033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2F244D-AE72-46F9-98A9-36660A51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89A30F-AEB4-4B9A-8AEF-3A6F243A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10237BF-9F72-4A63-989E-1CE3580A3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334129-2300-45C9-B1E0-00A1B91F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CA919A-D679-464A-91DD-0C183B14D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316E49A-73DA-4727-8728-5A744588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22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63923D-2F92-465A-96D6-08F794BE4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C04A971-02D5-4528-A5AD-4FB9BADDE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42F598B-B5D1-43AC-B0E7-D79D7DBB8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F32956-01E6-42C6-8E38-FCBC8CA2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D57EBD-4B6B-471C-BD01-10F011AD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83C913-F4C9-4B43-92BA-DC4E2E33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87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702CD6-34FC-443B-9993-A883D64D1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905F7D5-F49B-4A13-BE26-A99AB20D5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A9B196-E740-4256-BC57-6858F1A1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995DC8-6492-4088-8868-16268896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ABE40-7CFB-4C47-92A9-78F4D398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9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D7CB2A0-A59C-4CC6-8858-546B13195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EFE87C-CA8D-49B0-ABAB-7D715434A4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A9A974-FD7A-4C34-90A2-2809D16C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7B4F6D-D6A8-4A84-BF87-BC65BB8AF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6C8182-48B1-40F2-B500-F263F2EBF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6295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6" name="Picture 104" descr="PPP_SEDUC_TLE_Bo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819400"/>
            <a:ext cx="103632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886200"/>
            <a:ext cx="10363200" cy="685800"/>
          </a:xfrm>
        </p:spPr>
        <p:txBody>
          <a:bodyPr anchor="ctr"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117" name="Rectangle 4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118" name="Rectangle 4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119" name="Rectangle 4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AF2170E-61B7-4835-8119-433CC635074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8339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EA3F1A-6BBD-4A4A-91E4-32FCF32D559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7412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4E26C-2536-40CB-9DA5-4DB496A4760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524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538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848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2EA9C0-1C3C-4525-B3E5-3E496B11C55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589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3EE6DB-1124-4EFC-88D1-83648D139D3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555272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A01D6B-6403-430A-944E-2842C501E39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53147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E53CB-F416-4160-B253-3692C10FD0A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419855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80CA6D-8A4D-4730-B9BD-8156AE0F590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32555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75F04A-C4F9-4754-A467-C0D16B10F6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70730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3F60B-E627-42F9-B3F3-885A807AA76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79521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74667" y="228600"/>
            <a:ext cx="28702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4067" y="228600"/>
            <a:ext cx="84074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FE9D3-EF22-4856-8B0C-84B38016F4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5604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C51C97-C29F-4DCF-B0F3-1BBEFDBAD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30D578-6842-43D7-944B-4ACD0902E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7D3BE7B-B619-4095-A637-8B165230E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F6899-FA7A-42AA-907E-93DB100BE532}" type="datetimeFigureOut">
              <a:rPr lang="zh-TW" altLang="en-US" smtClean="0"/>
              <a:t>2026/10/14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54D181-5F3F-4ADA-9F41-B4F0F70F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724B96-18E5-4194-BAFE-F0ADAFB6A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CC106-9A27-4636-B414-4F420EC232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13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9" name="Picture 195" descr="PPP_SEDUC_TXT_Board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4067" y="228600"/>
            <a:ext cx="11480800" cy="111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109728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214" name="Rectangle 19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629400"/>
            <a:ext cx="2844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aseline="-25000">
                <a:solidFill>
                  <a:srgbClr val="FFFFFF"/>
                </a:solidFill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215" name="Rectangle 19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629400"/>
            <a:ext cx="3860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aseline="-25000">
                <a:solidFill>
                  <a:srgbClr val="FFFFFF"/>
                </a:solidFill>
                <a:ea typeface="新細明體" pitchFamily="18" charset="-120"/>
              </a:defRPr>
            </a:lvl1pPr>
          </a:lstStyle>
          <a:p>
            <a:endParaRPr lang="en-US" altLang="zh-TW"/>
          </a:p>
        </p:txBody>
      </p:sp>
      <p:sp>
        <p:nvSpPr>
          <p:cNvPr id="1216" name="Rectangle 19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19117" y="6629400"/>
            <a:ext cx="2844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aseline="-25000">
                <a:solidFill>
                  <a:srgbClr val="FFFFFF"/>
                </a:solidFill>
                <a:ea typeface="新細明體" pitchFamily="18" charset="-120"/>
              </a:defRPr>
            </a:lvl1pPr>
          </a:lstStyle>
          <a:p>
            <a:fld id="{7ABC88F7-9EA5-4C3A-BF93-EF5B32551F5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5417796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 b="1">
          <a:solidFill>
            <a:srgbClr val="FFFFFF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>
          <a:solidFill>
            <a:srgbClr val="FFFFFF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rgbClr val="FFFFFF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400">
          <a:solidFill>
            <a:srgbClr val="FFFFFF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FFFFFF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FFFFFF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FFFFFF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FFFFFF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rgbClr val="FFFFFF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.png"/><Relationship Id="rId18" Type="http://schemas.openxmlformats.org/officeDocument/2006/relationships/image" Target="../media/image7.png"/><Relationship Id="rId21" Type="http://schemas.openxmlformats.org/officeDocument/2006/relationships/image" Target="../media/image10.png"/><Relationship Id="rId12" Type="http://schemas.openxmlformats.org/officeDocument/2006/relationships/image" Target="../media/image22.png"/><Relationship Id="rId1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5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4.png"/><Relationship Id="rId19" Type="http://schemas.openxmlformats.org/officeDocument/2006/relationships/image" Target="../media/image8.png"/><Relationship Id="rId14" Type="http://schemas.openxmlformats.org/officeDocument/2006/relationships/image" Target="../media/image3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7" Type="http://schemas.openxmlformats.org/officeDocument/2006/relationships/image" Target="../media/image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610.png"/><Relationship Id="rId7" Type="http://schemas.openxmlformats.org/officeDocument/2006/relationships/image" Target="../media/image6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1.png"/><Relationship Id="rId10" Type="http://schemas.openxmlformats.org/officeDocument/2006/relationships/image" Target="../media/image120.png"/><Relationship Id="rId4" Type="http://schemas.openxmlformats.org/officeDocument/2006/relationships/image" Target="../media/image710.png"/><Relationship Id="rId9" Type="http://schemas.openxmlformats.org/officeDocument/2006/relationships/image" Target="../media/image1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0.png"/><Relationship Id="rId3" Type="http://schemas.openxmlformats.org/officeDocument/2006/relationships/image" Target="../media/image26.png"/><Relationship Id="rId12" Type="http://schemas.openxmlformats.org/officeDocument/2006/relationships/image" Target="../media/image22.png"/><Relationship Id="rId17" Type="http://schemas.openxmlformats.org/officeDocument/2006/relationships/image" Target="../media/image8.png"/><Relationship Id="rId2" Type="http://schemas.openxmlformats.org/officeDocument/2006/relationships/image" Target="../media/image3.png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11.png"/><Relationship Id="rId5" Type="http://schemas.openxmlformats.org/officeDocument/2006/relationships/image" Target="../media/image28.png"/><Relationship Id="rId15" Type="http://schemas.openxmlformats.org/officeDocument/2006/relationships/image" Target="../media/image250.png"/><Relationship Id="rId10" Type="http://schemas.openxmlformats.org/officeDocument/2006/relationships/image" Target="../media/image200.png"/><Relationship Id="rId4" Type="http://schemas.openxmlformats.org/officeDocument/2006/relationships/image" Target="../media/image27.png"/><Relationship Id="rId14" Type="http://schemas.openxmlformats.org/officeDocument/2006/relationships/image" Target="../media/image2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29.png"/><Relationship Id="rId18" Type="http://schemas.openxmlformats.org/officeDocument/2006/relationships/image" Target="../media/image37.png"/><Relationship Id="rId3" Type="http://schemas.openxmlformats.org/officeDocument/2006/relationships/tags" Target="../tags/tag3.xml"/><Relationship Id="rId21" Type="http://schemas.openxmlformats.org/officeDocument/2006/relationships/image" Target="../media/image40.png"/><Relationship Id="rId7" Type="http://schemas.openxmlformats.org/officeDocument/2006/relationships/tags" Target="../tags/tag7.xml"/><Relationship Id="rId12" Type="http://schemas.openxmlformats.org/officeDocument/2006/relationships/notesSlide" Target="../notesSlides/notesSlide1.xml"/><Relationship Id="rId17" Type="http://schemas.openxmlformats.org/officeDocument/2006/relationships/image" Target="../media/image36.png"/><Relationship Id="rId2" Type="http://schemas.openxmlformats.org/officeDocument/2006/relationships/tags" Target="../tags/tag2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18.xml"/><Relationship Id="rId5" Type="http://schemas.openxmlformats.org/officeDocument/2006/relationships/tags" Target="../tags/tag5.xml"/><Relationship Id="rId15" Type="http://schemas.openxmlformats.org/officeDocument/2006/relationships/image" Target="../media/image34.png"/><Relationship Id="rId10" Type="http://schemas.openxmlformats.org/officeDocument/2006/relationships/tags" Target="../tags/tag10.xml"/><Relationship Id="rId19" Type="http://schemas.openxmlformats.org/officeDocument/2006/relationships/image" Target="../media/image3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341.png"/><Relationship Id="rId7" Type="http://schemas.openxmlformats.org/officeDocument/2006/relationships/image" Target="../media/image370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361.png"/><Relationship Id="rId4" Type="http://schemas.openxmlformats.org/officeDocument/2006/relationships/image" Target="../media/image35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70.png"/><Relationship Id="rId7" Type="http://schemas.openxmlformats.org/officeDocument/2006/relationships/image" Target="../media/image311.png"/><Relationship Id="rId12" Type="http://schemas.openxmlformats.org/officeDocument/2006/relationships/image" Target="../media/image36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5" Type="http://schemas.openxmlformats.org/officeDocument/2006/relationships/image" Target="../media/image29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4.png"/><Relationship Id="rId7" Type="http://schemas.openxmlformats.org/officeDocument/2006/relationships/image" Target="../media/image69.png"/><Relationship Id="rId12" Type="http://schemas.openxmlformats.org/officeDocument/2006/relationships/image" Target="../media/image75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4.png"/><Relationship Id="rId5" Type="http://schemas.openxmlformats.org/officeDocument/2006/relationships/image" Target="../media/image67.png"/><Relationship Id="rId10" Type="http://schemas.openxmlformats.org/officeDocument/2006/relationships/image" Target="../media/image73.png"/><Relationship Id="rId4" Type="http://schemas.openxmlformats.org/officeDocument/2006/relationships/image" Target="../media/image65.png"/><Relationship Id="rId9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69.png"/><Relationship Id="rId7" Type="http://schemas.openxmlformats.org/officeDocument/2006/relationships/image" Target="../media/image74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9.png"/><Relationship Id="rId5" Type="http://schemas.openxmlformats.org/officeDocument/2006/relationships/image" Target="../media/image72.png"/><Relationship Id="rId10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0.png"/><Relationship Id="rId18" Type="http://schemas.openxmlformats.org/officeDocument/2006/relationships/image" Target="../media/image46.jpeg"/><Relationship Id="rId26" Type="http://schemas.openxmlformats.org/officeDocument/2006/relationships/image" Target="../media/image56.png"/><Relationship Id="rId3" Type="http://schemas.openxmlformats.org/officeDocument/2006/relationships/image" Target="../media/image400.png"/><Relationship Id="rId21" Type="http://schemas.openxmlformats.org/officeDocument/2006/relationships/image" Target="../media/image51.png"/><Relationship Id="rId17" Type="http://schemas.openxmlformats.org/officeDocument/2006/relationships/image" Target="../media/image46.png"/><Relationship Id="rId25" Type="http://schemas.openxmlformats.org/officeDocument/2006/relationships/image" Target="../media/image55.png"/><Relationship Id="rId2" Type="http://schemas.openxmlformats.org/officeDocument/2006/relationships/image" Target="../media/image44.jpeg"/><Relationship Id="rId16" Type="http://schemas.openxmlformats.org/officeDocument/2006/relationships/image" Target="../media/image45.jpeg"/><Relationship Id="rId20" Type="http://schemas.openxmlformats.org/officeDocument/2006/relationships/image" Target="../media/image47.png"/><Relationship Id="rId2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54.png"/><Relationship Id="rId5" Type="http://schemas.openxmlformats.org/officeDocument/2006/relationships/image" Target="../media/image42.png"/><Relationship Id="rId15" Type="http://schemas.openxmlformats.org/officeDocument/2006/relationships/image" Target="../media/image44.png"/><Relationship Id="rId23" Type="http://schemas.openxmlformats.org/officeDocument/2006/relationships/image" Target="../media/image53.png"/><Relationship Id="rId28" Type="http://schemas.openxmlformats.org/officeDocument/2006/relationships/image" Target="../media/image58.png"/><Relationship Id="rId19" Type="http://schemas.openxmlformats.org/officeDocument/2006/relationships/image" Target="../media/image48.png"/><Relationship Id="rId4" Type="http://schemas.openxmlformats.org/officeDocument/2006/relationships/image" Target="../media/image410.png"/><Relationship Id="rId14" Type="http://schemas.openxmlformats.org/officeDocument/2006/relationships/image" Target="../media/image430.png"/><Relationship Id="rId22" Type="http://schemas.openxmlformats.org/officeDocument/2006/relationships/image" Target="../media/image52.png"/><Relationship Id="rId27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83A368-3B5A-4E5C-A10D-45D8A1211D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Gibbs Paradox &amp; </a:t>
            </a:r>
            <a:br>
              <a:rPr lang="en-US" altLang="zh-TW" dirty="0"/>
            </a:br>
            <a:r>
              <a:rPr lang="en-US" altLang="zh-TW" dirty="0"/>
              <a:t>Particle Indistinguishability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1E5B84D-E39D-494A-836E-F19736693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squeaky chalk sound" pitchFamily="2" charset="-120"/>
              </a:rPr>
              <a:t>Thermal and Statistical Physics I</a:t>
            </a:r>
            <a:endParaRPr lang="en-US" altLang="zh-TW" dirty="0"/>
          </a:p>
          <a:p>
            <a:r>
              <a:rPr lang="en-US" altLang="zh-TW" dirty="0"/>
              <a:t>2026/10/15 Thu.</a:t>
            </a: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陳欣佑</a:t>
            </a:r>
          </a:p>
        </p:txBody>
      </p:sp>
    </p:spTree>
    <p:extLst>
      <p:ext uri="{BB962C8B-B14F-4D97-AF65-F5344CB8AC3E}">
        <p14:creationId xmlns:p14="http://schemas.microsoft.com/office/powerpoint/2010/main" val="4245829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A39D0683-EB73-4F65-BD33-2704DD0303E8}"/>
              </a:ext>
            </a:extLst>
          </p:cNvPr>
          <p:cNvSpPr txBox="1"/>
          <p:nvPr/>
        </p:nvSpPr>
        <p:spPr>
          <a:xfrm>
            <a:off x="323851" y="6550223"/>
            <a:ext cx="3981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Stephen J. Blundell and Katherine M. Blundell 2010</a:t>
            </a:r>
            <a:endParaRPr lang="zh-TW" altLang="en-US" sz="14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1AC2AEA-6A07-46D2-A551-B2047462DF03}"/>
              </a:ext>
            </a:extLst>
          </p:cNvPr>
          <p:cNvGrpSpPr>
            <a:grpSpLocks noChangeAspect="1"/>
          </p:cNvGrpSpPr>
          <p:nvPr/>
        </p:nvGrpSpPr>
        <p:grpSpPr>
          <a:xfrm>
            <a:off x="2657475" y="372069"/>
            <a:ext cx="4307685" cy="639983"/>
            <a:chOff x="1909189" y="967710"/>
            <a:chExt cx="3998696" cy="6399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04D586EC-A7D3-410B-BA01-B13109F0542B}"/>
                    </a:ext>
                  </a:extLst>
                </p:cNvPr>
                <p:cNvSpPr txBox="1"/>
                <p:nvPr/>
              </p:nvSpPr>
              <p:spPr>
                <a:xfrm>
                  <a:off x="3371850" y="967710"/>
                  <a:ext cx="2536035" cy="639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04D586EC-A7D3-410B-BA01-B13109F05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50" y="967710"/>
                  <a:ext cx="2536035" cy="63998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697DF93-EE75-460A-B50E-7E3DBB7B2C75}"/>
                </a:ext>
              </a:extLst>
            </p:cNvPr>
            <p:cNvSpPr/>
            <p:nvPr/>
          </p:nvSpPr>
          <p:spPr>
            <a:xfrm>
              <a:off x="1909189" y="982477"/>
              <a:ext cx="16151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Distinguishable</a:t>
              </a:r>
              <a:endParaRPr lang="zh-TW" altLang="en-US" dirty="0"/>
            </a:p>
          </p:txBody>
        </p:sp>
      </p:grpSp>
      <p:sp>
        <p:nvSpPr>
          <p:cNvPr id="13" name="矩形 12">
            <a:extLst>
              <a:ext uri="{FF2B5EF4-FFF2-40B4-BE49-F238E27FC236}">
                <a16:creationId xmlns:a16="http://schemas.microsoft.com/office/drawing/2014/main" id="{6BB5A444-D6C2-4171-B812-EF5B420B08B4}"/>
              </a:ext>
            </a:extLst>
          </p:cNvPr>
          <p:cNvSpPr/>
          <p:nvPr/>
        </p:nvSpPr>
        <p:spPr>
          <a:xfrm>
            <a:off x="7007527" y="398730"/>
            <a:ext cx="1773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Indistinguishable</a:t>
            </a:r>
            <a:endParaRPr lang="zh-TW" altLang="en-US" dirty="0"/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43F6539-7652-4EA2-A77E-6BBAC09DD159}"/>
              </a:ext>
            </a:extLst>
          </p:cNvPr>
          <p:cNvCxnSpPr/>
          <p:nvPr/>
        </p:nvCxnSpPr>
        <p:spPr>
          <a:xfrm>
            <a:off x="0" y="10001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A0123FC-D971-423A-BB63-865A3048C201}"/>
                  </a:ext>
                </a:extLst>
              </p:cNvPr>
              <p:cNvSpPr txBox="1"/>
              <p:nvPr/>
            </p:nvSpPr>
            <p:spPr>
              <a:xfrm>
                <a:off x="217214" y="332794"/>
                <a:ext cx="226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initial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A0123FC-D971-423A-BB63-865A3048C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14" y="332794"/>
                <a:ext cx="2269639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D58CDE6-3190-4729-8601-50A83D8E7087}"/>
              </a:ext>
            </a:extLst>
          </p:cNvPr>
          <p:cNvCxnSpPr/>
          <p:nvPr/>
        </p:nvCxnSpPr>
        <p:spPr>
          <a:xfrm>
            <a:off x="2533650" y="0"/>
            <a:ext cx="0" cy="10001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群組 2">
            <a:extLst>
              <a:ext uri="{FF2B5EF4-FFF2-40B4-BE49-F238E27FC236}">
                <a16:creationId xmlns:a16="http://schemas.microsoft.com/office/drawing/2014/main" id="{5E702F85-761C-4D8B-BB25-9421E41B828B}"/>
              </a:ext>
            </a:extLst>
          </p:cNvPr>
          <p:cNvGrpSpPr/>
          <p:nvPr/>
        </p:nvGrpSpPr>
        <p:grpSpPr>
          <a:xfrm>
            <a:off x="1889262" y="1112993"/>
            <a:ext cx="6833253" cy="5154867"/>
            <a:chOff x="1747731" y="1141208"/>
            <a:chExt cx="6833253" cy="515486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BE8570C9-FEE5-49AD-A530-A71B5CDBBA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8440" t="41241" b="34467"/>
            <a:stretch/>
          </p:blipFill>
          <p:spPr>
            <a:xfrm>
              <a:off x="1858418" y="2813419"/>
              <a:ext cx="6722566" cy="1616033"/>
            </a:xfrm>
            <a:prstGeom prst="rect">
              <a:avLst/>
            </a:prstGeom>
          </p:spPr>
        </p:pic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ED652377-2041-42D5-B4ED-94B02B6DDFA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77468" y="4408581"/>
              <a:ext cx="6089424" cy="1616041"/>
              <a:chOff x="609598" y="4577896"/>
              <a:chExt cx="5240151" cy="1390658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6116E456-6C20-43C7-BA73-0B1640D3C79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8589" t="76788" r="22518" b="-1080"/>
              <a:stretch/>
            </p:blipFill>
            <p:spPr>
              <a:xfrm>
                <a:off x="609598" y="4577896"/>
                <a:ext cx="4352928" cy="1390650"/>
              </a:xfrm>
              <a:prstGeom prst="rect">
                <a:avLst/>
              </a:prstGeom>
            </p:spPr>
          </p:pic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270FD339-1366-4F77-9554-B4AD55057B8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80852" t="76788" r="2860" b="-1080"/>
              <a:stretch/>
            </p:blipFill>
            <p:spPr>
              <a:xfrm>
                <a:off x="4820634" y="4577904"/>
                <a:ext cx="1029115" cy="1390650"/>
              </a:xfrm>
              <a:prstGeom prst="rect">
                <a:avLst/>
              </a:prstGeom>
            </p:spPr>
          </p:pic>
        </p:grp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9EA2C056-6C61-4995-89F0-2E39BE594D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47731" y="1141208"/>
              <a:ext cx="6833253" cy="1855469"/>
              <a:chOff x="514346" y="1204398"/>
              <a:chExt cx="5880242" cy="1596696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7B42834E-1E63-4B40-BFF2-24C45E2B2F6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8442" t="8237" b="67471"/>
              <a:stretch/>
            </p:blipFill>
            <p:spPr>
              <a:xfrm>
                <a:off x="609597" y="1410444"/>
                <a:ext cx="5784991" cy="1390650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字方塊 31">
                    <a:extLst>
                      <a:ext uri="{FF2B5EF4-FFF2-40B4-BE49-F238E27FC236}">
                        <a16:creationId xmlns:a16="http://schemas.microsoft.com/office/drawing/2014/main" id="{2622AE5D-CA8C-4363-AD74-0961B6B31B59}"/>
                      </a:ext>
                    </a:extLst>
                  </p:cNvPr>
                  <p:cNvSpPr txBox="1"/>
                  <p:nvPr/>
                </p:nvSpPr>
                <p:spPr>
                  <a:xfrm>
                    <a:off x="514346" y="1204398"/>
                    <a:ext cx="11525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2" name="文字方塊 31">
                    <a:extLst>
                      <a:ext uri="{FF2B5EF4-FFF2-40B4-BE49-F238E27FC236}">
                        <a16:creationId xmlns:a16="http://schemas.microsoft.com/office/drawing/2014/main" id="{2622AE5D-CA8C-4363-AD74-0961B6B31B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4346" y="1204398"/>
                    <a:ext cx="1152529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EFF1AF63-8C01-4C9B-9B48-FC3E58F15804}"/>
                      </a:ext>
                    </a:extLst>
                  </p:cNvPr>
                  <p:cNvSpPr txBox="1"/>
                  <p:nvPr/>
                </p:nvSpPr>
                <p:spPr>
                  <a:xfrm>
                    <a:off x="3324221" y="1212108"/>
                    <a:ext cx="1152529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EFF1AF63-8C01-4C9B-9B48-FC3E58F1580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24221" y="1212108"/>
                    <a:ext cx="1152529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0951F928-3C52-4524-8AFA-999E941D7415}"/>
                </a:ext>
              </a:extLst>
            </p:cNvPr>
            <p:cNvGrpSpPr/>
            <p:nvPr/>
          </p:nvGrpSpPr>
          <p:grpSpPr>
            <a:xfrm>
              <a:off x="1821994" y="5861636"/>
              <a:ext cx="4452883" cy="434439"/>
              <a:chOff x="639654" y="5876181"/>
              <a:chExt cx="3523541" cy="37385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A5EC6B40-F212-4C36-914B-466966FDE229}"/>
                      </a:ext>
                    </a:extLst>
                  </p:cNvPr>
                  <p:cNvSpPr txBox="1"/>
                  <p:nvPr/>
                </p:nvSpPr>
                <p:spPr>
                  <a:xfrm>
                    <a:off x="3305945" y="5876181"/>
                    <a:ext cx="8572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1" name="文字方塊 40">
                    <a:extLst>
                      <a:ext uri="{FF2B5EF4-FFF2-40B4-BE49-F238E27FC236}">
                        <a16:creationId xmlns:a16="http://schemas.microsoft.com/office/drawing/2014/main" id="{A5EC6B40-F212-4C36-914B-466966FDE22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05945" y="5876181"/>
                    <a:ext cx="85725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F0B2D243-EF27-434A-8550-60193EC45A91}"/>
                      </a:ext>
                    </a:extLst>
                  </p:cNvPr>
                  <p:cNvSpPr txBox="1"/>
                  <p:nvPr/>
                </p:nvSpPr>
                <p:spPr>
                  <a:xfrm>
                    <a:off x="639654" y="5880492"/>
                    <a:ext cx="8572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2" name="文字方塊 41">
                    <a:extLst>
                      <a:ext uri="{FF2B5EF4-FFF2-40B4-BE49-F238E27FC236}">
                        <a16:creationId xmlns:a16="http://schemas.microsoft.com/office/drawing/2014/main" id="{F0B2D243-EF27-434A-8550-60193EC45A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654" y="5880492"/>
                    <a:ext cx="85725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EBACDE1D-4672-4DC4-8EB0-DB6AC67E50F4}"/>
                      </a:ext>
                    </a:extLst>
                  </p:cNvPr>
                  <p:cNvSpPr txBox="1"/>
                  <p:nvPr/>
                </p:nvSpPr>
                <p:spPr>
                  <a:xfrm>
                    <a:off x="1386483" y="5880700"/>
                    <a:ext cx="85725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oMath>
                      </m:oMathPara>
                    </a14:m>
                    <a:endParaRPr lang="zh-TW" altLang="en-US" dirty="0"/>
                  </a:p>
                </p:txBody>
              </p:sp>
            </mc:Choice>
            <mc:Fallback xmlns="">
              <p:sp>
                <p:nvSpPr>
                  <p:cNvPr id="43" name="文字方塊 42">
                    <a:extLst>
                      <a:ext uri="{FF2B5EF4-FFF2-40B4-BE49-F238E27FC236}">
                        <a16:creationId xmlns:a16="http://schemas.microsoft.com/office/drawing/2014/main" id="{EBACDE1D-4672-4DC4-8EB0-DB6AC67E50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86483" y="5880700"/>
                    <a:ext cx="85725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DEAA4A39-2670-447E-92DB-08AD557B6C49}"/>
              </a:ext>
            </a:extLst>
          </p:cNvPr>
          <p:cNvSpPr/>
          <p:nvPr/>
        </p:nvSpPr>
        <p:spPr>
          <a:xfrm>
            <a:off x="4697193" y="285670"/>
            <a:ext cx="962027" cy="55032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72CAAFB6-0F54-416B-939D-D680EE697094}"/>
              </a:ext>
            </a:extLst>
          </p:cNvPr>
          <p:cNvGrpSpPr>
            <a:grpSpLocks noChangeAspect="1"/>
          </p:cNvGrpSpPr>
          <p:nvPr/>
        </p:nvGrpSpPr>
        <p:grpSpPr>
          <a:xfrm>
            <a:off x="8722514" y="166732"/>
            <a:ext cx="3516281" cy="756000"/>
            <a:chOff x="8722514" y="166732"/>
            <a:chExt cx="3516281" cy="75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5A256D8-6C97-44DB-82CC-3A8995D03CA5}"/>
                    </a:ext>
                  </a:extLst>
                </p:cNvPr>
                <p:cNvSpPr/>
                <p:nvPr/>
              </p:nvSpPr>
              <p:spPr>
                <a:xfrm>
                  <a:off x="8722514" y="228712"/>
                  <a:ext cx="3516281" cy="6090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5A256D8-6C97-44DB-82CC-3A8995D03C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2514" y="228712"/>
                  <a:ext cx="3516281" cy="6090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28E22C08-1BB6-4343-95CA-F3C86DFF73C3}"/>
                </a:ext>
              </a:extLst>
            </p:cNvPr>
            <p:cNvSpPr/>
            <p:nvPr/>
          </p:nvSpPr>
          <p:spPr>
            <a:xfrm>
              <a:off x="9161809" y="166732"/>
              <a:ext cx="1038225" cy="756000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CB9D553F-3C72-4D55-B699-470671FFB035}"/>
              </a:ext>
            </a:extLst>
          </p:cNvPr>
          <p:cNvGrpSpPr>
            <a:grpSpLocks noChangeAspect="1"/>
          </p:cNvGrpSpPr>
          <p:nvPr/>
        </p:nvGrpSpPr>
        <p:grpSpPr>
          <a:xfrm>
            <a:off x="7238121" y="5535878"/>
            <a:ext cx="4759188" cy="719761"/>
            <a:chOff x="6758239" y="1900378"/>
            <a:chExt cx="4759188" cy="719761"/>
          </a:xfrm>
          <a:solidFill>
            <a:schemeClr val="bg2"/>
          </a:solidFill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E66B1AA7-52C5-4099-A623-3D476E791A29}"/>
                </a:ext>
              </a:extLst>
            </p:cNvPr>
            <p:cNvSpPr txBox="1"/>
            <p:nvPr/>
          </p:nvSpPr>
          <p:spPr>
            <a:xfrm>
              <a:off x="6758239" y="1900378"/>
              <a:ext cx="475918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        If distinguishable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2CDF02A3-A60D-4A01-9744-5CD7CE45616E}"/>
                    </a:ext>
                  </a:extLst>
                </p:cNvPr>
                <p:cNvSpPr txBox="1"/>
                <p:nvPr/>
              </p:nvSpPr>
              <p:spPr>
                <a:xfrm>
                  <a:off x="6758239" y="2251598"/>
                  <a:ext cx="4759188" cy="368541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−2⋅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2CDF02A3-A60D-4A01-9744-5CD7CE4561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239" y="2251598"/>
                  <a:ext cx="4759188" cy="368541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DB30E5D-1415-4756-ABE6-11E70B44B637}"/>
                  </a:ext>
                </a:extLst>
              </p:cNvPr>
              <p:cNvSpPr txBox="1"/>
              <p:nvPr/>
            </p:nvSpPr>
            <p:spPr>
              <a:xfrm rot="20125268">
                <a:off x="10160705" y="5258805"/>
                <a:ext cx="10572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DB30E5D-1415-4756-ABE6-11E70B44B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125268">
                <a:off x="10160705" y="5258805"/>
                <a:ext cx="1057275" cy="46166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2580E6D2-BEEE-4C29-8276-8FDF1E451CB3}"/>
              </a:ext>
            </a:extLst>
          </p:cNvPr>
          <p:cNvSpPr txBox="1"/>
          <p:nvPr/>
        </p:nvSpPr>
        <p:spPr>
          <a:xfrm>
            <a:off x="9311609" y="4182687"/>
            <a:ext cx="2133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Gibbs paradox</a:t>
            </a:r>
            <a:endParaRPr lang="zh-TW" altLang="en-US" sz="2400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7422210-F039-4D3A-A701-C8118DC2BAB8}"/>
              </a:ext>
            </a:extLst>
          </p:cNvPr>
          <p:cNvCxnSpPr>
            <a:cxnSpLocks/>
          </p:cNvCxnSpPr>
          <p:nvPr/>
        </p:nvCxnSpPr>
        <p:spPr>
          <a:xfrm flipH="1" flipV="1">
            <a:off x="10464127" y="4802114"/>
            <a:ext cx="84780" cy="35728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>
            <a:extLst>
              <a:ext uri="{FF2B5EF4-FFF2-40B4-BE49-F238E27FC236}">
                <a16:creationId xmlns:a16="http://schemas.microsoft.com/office/drawing/2014/main" id="{66589A0F-E647-45E0-9846-7335A294E379}"/>
              </a:ext>
            </a:extLst>
          </p:cNvPr>
          <p:cNvCxnSpPr>
            <a:cxnSpLocks/>
          </p:cNvCxnSpPr>
          <p:nvPr/>
        </p:nvCxnSpPr>
        <p:spPr>
          <a:xfrm flipV="1">
            <a:off x="8380989" y="4705223"/>
            <a:ext cx="847788" cy="43600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41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71126-0915-4B29-B3B7-D0DC9625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Entropy – extensivity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CD54E0-0910-4C7B-A8AF-BDCD02879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336" y="1749931"/>
            <a:ext cx="7722009" cy="506617"/>
          </a:xfrm>
        </p:spPr>
        <p:txBody>
          <a:bodyPr>
            <a:normAutofit/>
          </a:bodyPr>
          <a:lstStyle/>
          <a:p>
            <a:r>
              <a:rPr lang="en-US" altLang="zh-TW" sz="2200" dirty="0"/>
              <a:t>Scales with the size of the system.  (e.g., U, V, N, S)</a:t>
            </a:r>
            <a:endParaRPr lang="zh-TW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4B81142-35D2-4EBF-AACF-ECA8EB2B932B}"/>
                  </a:ext>
                </a:extLst>
              </p:cNvPr>
              <p:cNvSpPr txBox="1"/>
              <p:nvPr/>
            </p:nvSpPr>
            <p:spPr>
              <a:xfrm>
                <a:off x="3705225" y="2361564"/>
                <a:ext cx="47815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i="1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24B81142-35D2-4EBF-AACF-ECA8EB2B9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225" y="2361564"/>
                <a:ext cx="4781550" cy="461665"/>
              </a:xfrm>
              <a:prstGeom prst="rect">
                <a:avLst/>
              </a:prstGeom>
              <a:blipFill>
                <a:blip r:embed="rId2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群組 42">
            <a:extLst>
              <a:ext uri="{FF2B5EF4-FFF2-40B4-BE49-F238E27FC236}">
                <a16:creationId xmlns:a16="http://schemas.microsoft.com/office/drawing/2014/main" id="{07A1B1E0-C6E3-4EBD-88B1-842A863D6C6A}"/>
              </a:ext>
            </a:extLst>
          </p:cNvPr>
          <p:cNvGrpSpPr/>
          <p:nvPr/>
        </p:nvGrpSpPr>
        <p:grpSpPr>
          <a:xfrm>
            <a:off x="1176336" y="3069134"/>
            <a:ext cx="10148889" cy="3477251"/>
            <a:chOff x="1204911" y="3335834"/>
            <a:chExt cx="10148889" cy="3477251"/>
          </a:xfrm>
        </p:grpSpPr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84877D71-9028-4E3F-928F-4D2288C5A57D}"/>
                </a:ext>
              </a:extLst>
            </p:cNvPr>
            <p:cNvGrpSpPr/>
            <p:nvPr/>
          </p:nvGrpSpPr>
          <p:grpSpPr>
            <a:xfrm>
              <a:off x="1204911" y="3335834"/>
              <a:ext cx="10148889" cy="2708434"/>
              <a:chOff x="1247773" y="3686175"/>
              <a:chExt cx="10148889" cy="2708434"/>
            </a:xfrm>
          </p:grpSpPr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6C5F132-E261-48B5-A43E-FEEB253DEBAF}"/>
                  </a:ext>
                </a:extLst>
              </p:cNvPr>
              <p:cNvSpPr txBox="1"/>
              <p:nvPr/>
            </p:nvSpPr>
            <p:spPr>
              <a:xfrm>
                <a:off x="1247773" y="3686175"/>
                <a:ext cx="10148889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b="1" u="sng" dirty="0"/>
                  <a:t>Limitations</a:t>
                </a:r>
                <a:r>
                  <a:rPr lang="en-US" altLang="zh-TW" sz="2000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/>
                  <a:t>1.  </a:t>
                </a:r>
                <a:r>
                  <a:rPr lang="en-US" altLang="zh-TW" sz="2000" b="1" dirty="0"/>
                  <a:t>Thermodynamic limit</a:t>
                </a:r>
                <a:r>
                  <a:rPr lang="en-US" altLang="zh-TW" sz="2000" dirty="0"/>
                  <a:t>: </a:t>
                </a:r>
              </a:p>
              <a:p>
                <a:endParaRPr lang="en-US" altLang="zh-TW" dirty="0"/>
              </a:p>
              <a:p>
                <a:endParaRPr lang="en-US" altLang="zh-TW" sz="2000" dirty="0"/>
              </a:p>
              <a:p>
                <a:endParaRPr lang="en-US" altLang="zh-TW" sz="1600" dirty="0"/>
              </a:p>
              <a:p>
                <a:pPr>
                  <a:lnSpc>
                    <a:spcPct val="110000"/>
                  </a:lnSpc>
                </a:pPr>
                <a:r>
                  <a:rPr lang="en-US" altLang="zh-TW" sz="2000" dirty="0"/>
                  <a:t>2.  </a:t>
                </a:r>
                <a:r>
                  <a:rPr lang="en-US" altLang="zh-TW" sz="2000" b="1" dirty="0"/>
                  <a:t>Short-range interaction</a:t>
                </a:r>
                <a:r>
                  <a:rPr lang="en-US" altLang="zh-TW" sz="2000" dirty="0"/>
                  <a:t> (or </a:t>
                </a:r>
                <a:r>
                  <a:rPr lang="en-US" altLang="zh-TW" sz="2000" b="1" dirty="0"/>
                  <a:t>no interaction</a:t>
                </a:r>
                <a:r>
                  <a:rPr lang="en-US" altLang="zh-TW" sz="2000" dirty="0"/>
                  <a:t>):  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The interaction range between particles is much smaller than the scale of the system.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/>
                  <a:t>Surface and boundary wall effects become vanishingly small, leaving only bulk properties.</a:t>
                </a:r>
                <a:endParaRPr lang="zh-TW" altLang="en-US" sz="2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A094C18B-D6CC-4A0F-99CE-BA088E829B6F}"/>
                      </a:ext>
                    </a:extLst>
                  </p:cNvPr>
                  <p:cNvSpPr/>
                  <p:nvPr/>
                </p:nvSpPr>
                <p:spPr>
                  <a:xfrm>
                    <a:off x="4343400" y="3940640"/>
                    <a:ext cx="3159711" cy="66851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→∞</m:t>
                          </m:r>
                          <m:r>
                            <a:rPr lang="en-US" altLang="zh-TW" sz="2000"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→∞</m:t>
                          </m:r>
                          <m:r>
                            <a:rPr lang="en-US" altLang="zh-TW" sz="2000">
                              <a:latin typeface="Cambria Math" panose="02040503050406030204" pitchFamily="18" charset="0"/>
                            </a:rPr>
                            <m:t> , </m:t>
                          </m:r>
                          <m:f>
                            <m:f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finite</m:t>
                          </m:r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39" name="矩形 38">
                    <a:extLst>
                      <a:ext uri="{FF2B5EF4-FFF2-40B4-BE49-F238E27FC236}">
                        <a16:creationId xmlns:a16="http://schemas.microsoft.com/office/drawing/2014/main" id="{A094C18B-D6CC-4A0F-99CE-BA088E829B6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3400" y="3940640"/>
                    <a:ext cx="3159711" cy="66851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D0B53D3C-3E2E-436B-A485-43D349DAF51F}"/>
                      </a:ext>
                    </a:extLst>
                  </p:cNvPr>
                  <p:cNvSpPr txBox="1"/>
                  <p:nvPr/>
                </p:nvSpPr>
                <p:spPr>
                  <a:xfrm>
                    <a:off x="2569367" y="4698175"/>
                    <a:ext cx="375285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 ,  </m:t>
                          </m:r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 ~ </m:t>
                          </m:r>
                          <m:sSup>
                            <m:sSup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</m:e>
                            <m:sup>
                              <m: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∝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oMath>
                      </m:oMathPara>
                    </a14:m>
                    <a:endParaRPr lang="zh-TW" altLang="en-US" sz="2000" dirty="0"/>
                  </a:p>
                </p:txBody>
              </p:sp>
            </mc:Choice>
            <mc:Fallback xmlns="">
              <p:sp>
                <p:nvSpPr>
                  <p:cNvPr id="40" name="文字方塊 39">
                    <a:extLst>
                      <a:ext uri="{FF2B5EF4-FFF2-40B4-BE49-F238E27FC236}">
                        <a16:creationId xmlns:a16="http://schemas.microsoft.com/office/drawing/2014/main" id="{D0B53D3C-3E2E-436B-A485-43D349DAF5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69367" y="4698175"/>
                    <a:ext cx="3752850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923F75F3-8903-494D-ACBF-1A6669D8DE66}"/>
                    </a:ext>
                  </a:extLst>
                </p:cNvPr>
                <p:cNvSpPr txBox="1"/>
                <p:nvPr/>
              </p:nvSpPr>
              <p:spPr>
                <a:xfrm>
                  <a:off x="2526505" y="6031140"/>
                  <a:ext cx="7331871" cy="7819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den>
                        </m:f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 ~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  <m:sup>
                                <m: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e>
                              <m:sup>
                                <m: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∝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 ,   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surface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bulk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 ~</m:t>
                        </m:r>
                        <m:f>
                          <m:f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f>
                                  <m:fPr>
                                    <m:type m:val="lin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num>
                          <m:den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lin"/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→0    </m:t>
                        </m:r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as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923F75F3-8903-494D-ACBF-1A6669D8DE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6505" y="6031140"/>
                  <a:ext cx="7331871" cy="78194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1E38CEA5-A1BE-4D17-B035-D399C2A2EE59}"/>
                  </a:ext>
                </a:extLst>
              </p:cNvPr>
              <p:cNvSpPr txBox="1"/>
              <p:nvPr/>
            </p:nvSpPr>
            <p:spPr>
              <a:xfrm>
                <a:off x="7696200" y="3057256"/>
                <a:ext cx="4476750" cy="16560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u="sng" dirty="0"/>
                  <a:t>Exceptions</a:t>
                </a:r>
                <a:r>
                  <a:rPr lang="en-US" altLang="zh-TW" b="1" dirty="0"/>
                  <a:t>:</a:t>
                </a:r>
              </a:p>
              <a:p>
                <a:pPr marL="342900" indent="-28800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650" dirty="0"/>
                  <a:t>Nanoclusters, quantum dots, molecular biological system: Tens to thousands of atoms.</a:t>
                </a:r>
              </a:p>
              <a:p>
                <a:pPr marL="342900" indent="-288000">
                  <a:lnSpc>
                    <a:spcPct val="120000"/>
                  </a:lnSpc>
                  <a:spcBef>
                    <a:spcPts val="2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1650" dirty="0"/>
                  <a:t>Long-range interaction, e.g., gravitational potential energy </a:t>
                </a:r>
                <a14:m>
                  <m:oMath xmlns:m="http://schemas.openxmlformats.org/officeDocument/2006/math">
                    <m:r>
                      <a:rPr lang="en-US" altLang="zh-TW" sz="1650" b="0" i="1" smtClean="0">
                        <a:latin typeface="Cambria Math" panose="02040503050406030204" pitchFamily="18" charset="0"/>
                      </a:rPr>
                      <m:t>~1/</m:t>
                    </m:r>
                    <m:r>
                      <a:rPr lang="en-US" altLang="zh-TW" sz="165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TW" sz="1650" dirty="0"/>
                  <a:t> .</a:t>
                </a:r>
                <a:endParaRPr lang="zh-TW" altLang="en-US" sz="1650" dirty="0"/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1E38CEA5-A1BE-4D17-B035-D399C2A2E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3057256"/>
                <a:ext cx="4476750" cy="1656000"/>
              </a:xfrm>
              <a:prstGeom prst="rect">
                <a:avLst/>
              </a:prstGeom>
              <a:blipFill>
                <a:blip r:embed="rId6"/>
                <a:stretch>
                  <a:fillRect l="-1226" t="-2214" r="-272" b="-3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41A9D8E-29DE-4CDC-85F9-BB144E79E585}"/>
                  </a:ext>
                </a:extLst>
              </p:cNvPr>
              <p:cNvSpPr txBox="1"/>
              <p:nvPr/>
            </p:nvSpPr>
            <p:spPr>
              <a:xfrm>
                <a:off x="10219135" y="4410878"/>
                <a:ext cx="1836000" cy="36933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total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41A9D8E-29DE-4CDC-85F9-BB144E79E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135" y="4410878"/>
                <a:ext cx="1836000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1085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75B47-5814-4EC9-8023-14F320B9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Long-range or short-range?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FD9E071-07F4-4CDA-BBFF-48E60F15B786}"/>
                  </a:ext>
                </a:extLst>
              </p:cNvPr>
              <p:cNvSpPr txBox="1"/>
              <p:nvPr/>
            </p:nvSpPr>
            <p:spPr>
              <a:xfrm>
                <a:off x="838200" y="1609725"/>
                <a:ext cx="778192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Imagine a container filled with particles at a uniform number density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r>
                  <a:rPr lang="en-US" altLang="zh-TW" dirty="0"/>
                  <a:t>A single particle is placed at the origin.</a:t>
                </a:r>
              </a:p>
              <a:p>
                <a:r>
                  <a:rPr lang="en-US" altLang="zh-TW" dirty="0"/>
                  <a:t>Calculate the total potential energy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felt by this particle.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0FD9E071-07F4-4CDA-BBFF-48E60F15B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09725"/>
                <a:ext cx="7781926" cy="923330"/>
              </a:xfrm>
              <a:prstGeom prst="rect">
                <a:avLst/>
              </a:prstGeom>
              <a:blipFill>
                <a:blip r:embed="rId2"/>
                <a:stretch>
                  <a:fillRect l="-705" t="-3289" b="-92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橢圓 3">
            <a:extLst>
              <a:ext uri="{FF2B5EF4-FFF2-40B4-BE49-F238E27FC236}">
                <a16:creationId xmlns:a16="http://schemas.microsoft.com/office/drawing/2014/main" id="{B40FD1EE-A586-40AE-B824-D28318C3AAF9}"/>
              </a:ext>
            </a:extLst>
          </p:cNvPr>
          <p:cNvSpPr>
            <a:spLocks noChangeAspect="1"/>
          </p:cNvSpPr>
          <p:nvPr/>
        </p:nvSpPr>
        <p:spPr>
          <a:xfrm>
            <a:off x="9391800" y="810674"/>
            <a:ext cx="1980000" cy="198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7049A4AF-9884-4051-9B2A-7C16000AF66F}"/>
              </a:ext>
            </a:extLst>
          </p:cNvPr>
          <p:cNvSpPr>
            <a:spLocks noChangeAspect="1"/>
          </p:cNvSpPr>
          <p:nvPr/>
        </p:nvSpPr>
        <p:spPr>
          <a:xfrm>
            <a:off x="9481800" y="900674"/>
            <a:ext cx="1800000" cy="180000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CE36FC5-63DB-42B8-B8B7-7B6DB4EB6FE8}"/>
              </a:ext>
            </a:extLst>
          </p:cNvPr>
          <p:cNvSpPr/>
          <p:nvPr/>
        </p:nvSpPr>
        <p:spPr>
          <a:xfrm>
            <a:off x="10327800" y="1749229"/>
            <a:ext cx="108000" cy="108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B9BC21-D21D-4152-93A0-50A62C4876D5}"/>
              </a:ext>
            </a:extLst>
          </p:cNvPr>
          <p:cNvSpPr txBox="1"/>
          <p:nvPr/>
        </p:nvSpPr>
        <p:spPr>
          <a:xfrm>
            <a:off x="10601325" y="1449519"/>
            <a:ext cx="606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0CC6C9-7B50-4FB1-B537-BF5EEFEC4F6C}"/>
              </a:ext>
            </a:extLst>
          </p:cNvPr>
          <p:cNvSpPr txBox="1"/>
          <p:nvPr/>
        </p:nvSpPr>
        <p:spPr>
          <a:xfrm>
            <a:off x="11466000" y="1449519"/>
            <a:ext cx="606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…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17E2A63-28D6-43F2-B3BF-6826EC2C6B78}"/>
                  </a:ext>
                </a:extLst>
              </p:cNvPr>
              <p:cNvSpPr txBox="1"/>
              <p:nvPr/>
            </p:nvSpPr>
            <p:spPr>
              <a:xfrm>
                <a:off x="10501762" y="1035187"/>
                <a:ext cx="1991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17E2A63-28D6-43F2-B3BF-6826EC2C6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1762" y="1035187"/>
                <a:ext cx="199125" cy="369332"/>
              </a:xfrm>
              <a:prstGeom prst="rect">
                <a:avLst/>
              </a:prstGeom>
              <a:blipFill>
                <a:blip r:embed="rId3"/>
                <a:stretch>
                  <a:fillRect r="-56250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CD2218D6-217B-43D0-AD25-768F6C57CC1C}"/>
              </a:ext>
            </a:extLst>
          </p:cNvPr>
          <p:cNvCxnSpPr>
            <a:cxnSpLocks/>
          </p:cNvCxnSpPr>
          <p:nvPr/>
        </p:nvCxnSpPr>
        <p:spPr>
          <a:xfrm>
            <a:off x="10400850" y="1857229"/>
            <a:ext cx="400500" cy="75262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C7DF6E6-FB70-4F14-9E7C-09E0894FE9AD}"/>
                  </a:ext>
                </a:extLst>
              </p:cNvPr>
              <p:cNvSpPr txBox="1"/>
              <p:nvPr/>
            </p:nvSpPr>
            <p:spPr>
              <a:xfrm>
                <a:off x="10292812" y="2074363"/>
                <a:ext cx="2735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C7DF6E6-FB70-4F14-9E7C-09E0894FE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812" y="2074363"/>
                <a:ext cx="27352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019C02F-58DD-4BA5-8996-BA46899A5204}"/>
                  </a:ext>
                </a:extLst>
              </p:cNvPr>
              <p:cNvSpPr txBox="1"/>
              <p:nvPr/>
            </p:nvSpPr>
            <p:spPr>
              <a:xfrm>
                <a:off x="10092675" y="313684"/>
                <a:ext cx="1740975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019C02F-58DD-4BA5-8996-BA46899A5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2675" y="313684"/>
                <a:ext cx="1740975" cy="3742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弧形 15">
            <a:extLst>
              <a:ext uri="{FF2B5EF4-FFF2-40B4-BE49-F238E27FC236}">
                <a16:creationId xmlns:a16="http://schemas.microsoft.com/office/drawing/2014/main" id="{5C9B45EA-B463-4AC7-B353-83F531B569A0}"/>
              </a:ext>
            </a:extLst>
          </p:cNvPr>
          <p:cNvSpPr/>
          <p:nvPr/>
        </p:nvSpPr>
        <p:spPr>
          <a:xfrm>
            <a:off x="10001249" y="588087"/>
            <a:ext cx="571275" cy="648347"/>
          </a:xfrm>
          <a:prstGeom prst="arc">
            <a:avLst>
              <a:gd name="adj1" fmla="val 10529642"/>
              <a:gd name="adj2" fmla="val 14975532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30A0F14-BD71-439A-9765-4BD16F4AF799}"/>
                  </a:ext>
                </a:extLst>
              </p:cNvPr>
              <p:cNvSpPr txBox="1"/>
              <p:nvPr/>
            </p:nvSpPr>
            <p:spPr>
              <a:xfrm>
                <a:off x="3400425" y="2924174"/>
                <a:ext cx="3257550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30A0F14-BD71-439A-9765-4BD16F4AF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0425" y="2924174"/>
                <a:ext cx="3257550" cy="374270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B96FE67-A0C1-49B3-A0E5-37B4B736DABB}"/>
                  </a:ext>
                </a:extLst>
              </p:cNvPr>
              <p:cNvSpPr/>
              <p:nvPr/>
            </p:nvSpPr>
            <p:spPr>
              <a:xfrm>
                <a:off x="3583657" y="3464306"/>
                <a:ext cx="1158330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𝒱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9B96FE67-A0C1-49B3-A0E5-37B4B736DA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657" y="3464306"/>
                <a:ext cx="1158330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0AFB1E4-CFF5-4891-AC30-E0CA7F3E9975}"/>
                  </a:ext>
                </a:extLst>
              </p:cNvPr>
              <p:cNvSpPr txBox="1"/>
              <p:nvPr/>
            </p:nvSpPr>
            <p:spPr>
              <a:xfrm>
                <a:off x="2943075" y="4248746"/>
                <a:ext cx="567705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𝒱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∝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𝑑𝑟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𝑑𝑟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B0AFB1E4-CFF5-4891-AC30-E0CA7F3E9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3075" y="4248746"/>
                <a:ext cx="5677051" cy="71468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96A0FE7-07CA-4FAA-B9A2-E483342AC89B}"/>
                  </a:ext>
                </a:extLst>
              </p:cNvPr>
              <p:cNvSpPr txBox="1"/>
              <p:nvPr/>
            </p:nvSpPr>
            <p:spPr>
              <a:xfrm>
                <a:off x="857251" y="5373735"/>
                <a:ext cx="5800724" cy="781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∝</m:t>
                    </m:r>
                    <m:nary>
                      <m:nary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sSup>
                          <m:s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−1−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den>
                            </m:f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b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 ∝  </m:t>
                    </m:r>
                    <m:sSup>
                      <m:s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96A0FE7-07CA-4FAA-B9A2-E483342AC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1" y="5373735"/>
                <a:ext cx="5800724" cy="7811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903CEEC1-35A5-4FA4-916C-6390BBA00865}"/>
              </a:ext>
            </a:extLst>
          </p:cNvPr>
          <p:cNvGrpSpPr/>
          <p:nvPr/>
        </p:nvGrpSpPr>
        <p:grpSpPr>
          <a:xfrm>
            <a:off x="6352950" y="5186254"/>
            <a:ext cx="5631433" cy="1074910"/>
            <a:chOff x="6476775" y="5224354"/>
            <a:chExt cx="5631433" cy="1074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D740F82F-6E41-4FB1-B044-0B6A6C213196}"/>
                    </a:ext>
                  </a:extLst>
                </p:cNvPr>
                <p:cNvSpPr txBox="1"/>
                <p:nvPr/>
              </p:nvSpPr>
              <p:spPr>
                <a:xfrm>
                  <a:off x="6476775" y="5224354"/>
                  <a:ext cx="4124325" cy="10749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{"/>
                            <m:endChr m:val=""/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𝑐𝑜𝑛𝑠𝑡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.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as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→∞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/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→  ∞</m:t>
                                </m:r>
                                <m: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     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>
                                    <a:latin typeface="Cambria Math" panose="02040503050406030204" pitchFamily="18" charset="0"/>
                                  </a:rPr>
                                  <m:t>as</m:t>
                                </m:r>
                                <m: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D740F82F-6E41-4FB1-B044-0B6A6C213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6775" y="5224354"/>
                  <a:ext cx="4124325" cy="10749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A48ADE4-F388-4F7E-9C7D-B0F7BD6C3E19}"/>
                </a:ext>
              </a:extLst>
            </p:cNvPr>
            <p:cNvSpPr txBox="1"/>
            <p:nvPr/>
          </p:nvSpPr>
          <p:spPr>
            <a:xfrm>
              <a:off x="10598493" y="5859144"/>
              <a:ext cx="15097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Long-range</a:t>
              </a:r>
              <a:endParaRPr lang="zh-TW" altLang="en-US" sz="20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EF3DFFC-C127-4749-877F-55D8FB6CB1D0}"/>
                </a:ext>
              </a:extLst>
            </p:cNvPr>
            <p:cNvSpPr txBox="1"/>
            <p:nvPr/>
          </p:nvSpPr>
          <p:spPr>
            <a:xfrm>
              <a:off x="10586868" y="5268298"/>
              <a:ext cx="15097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/>
                <a:t>Short-range</a:t>
              </a:r>
              <a:endParaRPr lang="zh-TW" altLang="en-US" sz="2000" dirty="0"/>
            </a:p>
          </p:txBody>
        </p:sp>
      </p:grp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12F9E940-CF18-4358-8E93-F5205653C86F}"/>
              </a:ext>
            </a:extLst>
          </p:cNvPr>
          <p:cNvCxnSpPr/>
          <p:nvPr/>
        </p:nvCxnSpPr>
        <p:spPr>
          <a:xfrm>
            <a:off x="5067300" y="5982999"/>
            <a:ext cx="5760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51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71126-0915-4B29-B3B7-D0DC9625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Entropy – an extensive quantity for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Gas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CD54E0-0910-4C7B-A8AF-BDCD02879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1119" y="111816"/>
            <a:ext cx="7722009" cy="506617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Scales with the size of the system.  (e.g., U, V, N, S)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5D490BA-3BAF-4CDF-A65E-0044EE308A79}"/>
                  </a:ext>
                </a:extLst>
              </p:cNvPr>
              <p:cNvSpPr txBox="1"/>
              <p:nvPr/>
            </p:nvSpPr>
            <p:spPr>
              <a:xfrm>
                <a:off x="2240371" y="1487277"/>
                <a:ext cx="7334250" cy="1338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altLang="zh-TW" b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𝑉𝑑𝑃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𝑃𝑑𝑉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𝑃𝑑𝑉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𝑉𝑑𝑃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𝑃𝑑𝑉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𝑃𝑉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𝑉𝑑𝑃</m:t>
                      </m:r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5D490BA-3BAF-4CDF-A65E-0044EE308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0371" y="1487277"/>
                <a:ext cx="7334250" cy="13388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61C835-34DA-4272-A461-E3D78E8518A9}"/>
                  </a:ext>
                </a:extLst>
              </p:cNvPr>
              <p:cNvSpPr/>
              <p:nvPr/>
            </p:nvSpPr>
            <p:spPr>
              <a:xfrm>
                <a:off x="4448351" y="2840551"/>
                <a:ext cx="2661819" cy="6280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𝑃𝑉</m:t>
                              </m:r>
                            </m:e>
                          </m:d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𝑑𝑃</m:t>
                      </m:r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61C835-34DA-4272-A461-E3D78E8518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351" y="2840551"/>
                <a:ext cx="2661819" cy="628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E6F1F8C-C202-4301-8522-B28799491CF5}"/>
                  </a:ext>
                </a:extLst>
              </p:cNvPr>
              <p:cNvSpPr/>
              <p:nvPr/>
            </p:nvSpPr>
            <p:spPr>
              <a:xfrm>
                <a:off x="4501003" y="3487006"/>
                <a:ext cx="2408736" cy="1350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𝑑𝑃</m:t>
                      </m:r>
                    </m:oMath>
                  </m:oMathPara>
                </a14:m>
                <a:endParaRPr lang="en-US" altLang="zh-TW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altLang="zh-TW" i="1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𝑑𝑇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en-US" altLang="zh-TW" b="0" i="1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E6F1F8C-C202-4301-8522-B28799491C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003" y="3487006"/>
                <a:ext cx="2408736" cy="13502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E4C96D6-CC1A-4B0B-8722-732EF62E6CC4}"/>
                  </a:ext>
                </a:extLst>
              </p:cNvPr>
              <p:cNvSpPr txBox="1"/>
              <p:nvPr/>
            </p:nvSpPr>
            <p:spPr>
              <a:xfrm>
                <a:off x="7492123" y="4142934"/>
                <a:ext cx="32425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>
                    <a:solidFill>
                      <a:schemeClr val="bg1">
                        <a:lumMod val="50000"/>
                      </a:schemeClr>
                    </a:solidFill>
                  </a:rPr>
                  <a:t>Ideal gas equation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altLang="zh-TW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zh-TW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TW" b="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zh-TW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E4C96D6-CC1A-4B0B-8722-732EF62E6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2123" y="4142934"/>
                <a:ext cx="3242552" cy="369332"/>
              </a:xfrm>
              <a:prstGeom prst="rect">
                <a:avLst/>
              </a:prstGeom>
              <a:blipFill>
                <a:blip r:embed="rId5"/>
                <a:stretch>
                  <a:fillRect l="-1504" t="-1000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036F9FB7-BCAA-45DA-BEF1-659AB123CACF}"/>
              </a:ext>
            </a:extLst>
          </p:cNvPr>
          <p:cNvGrpSpPr>
            <a:grpSpLocks noChangeAspect="1"/>
          </p:cNvGrpSpPr>
          <p:nvPr/>
        </p:nvGrpSpPr>
        <p:grpSpPr>
          <a:xfrm>
            <a:off x="3017399" y="4702486"/>
            <a:ext cx="6096000" cy="2070705"/>
            <a:chOff x="3048000" y="4561299"/>
            <a:chExt cx="6096000" cy="20707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4FCEBDB-02C5-404A-A96A-461542E3D4EB}"/>
                    </a:ext>
                  </a:extLst>
                </p:cNvPr>
                <p:cNvSpPr/>
                <p:nvPr/>
              </p:nvSpPr>
              <p:spPr>
                <a:xfrm>
                  <a:off x="3048000" y="4561299"/>
                  <a:ext cx="6096000" cy="1710533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zh-TW" sz="2000" b="0" i="1" dirty="0"/>
                </a:p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d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sz="20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</m:func>
                          </m:e>
                        </m:d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64FCEBDB-02C5-404A-A96A-461542E3D4E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8000" y="4561299"/>
                  <a:ext cx="6096000" cy="171053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89C7EFFB-14E1-44F9-920F-2D25E7833E6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350492" y="6124405"/>
              <a:ext cx="1390650" cy="507599"/>
              <a:chOff x="5100637" y="6259585"/>
              <a:chExt cx="1390650" cy="507599"/>
            </a:xfrm>
          </p:grpSpPr>
          <p:cxnSp>
            <p:nvCxnSpPr>
              <p:cNvPr id="12" name="直線單箭頭接點 11">
                <a:extLst>
                  <a:ext uri="{FF2B5EF4-FFF2-40B4-BE49-F238E27FC236}">
                    <a16:creationId xmlns:a16="http://schemas.microsoft.com/office/drawing/2014/main" id="{2C3C2069-1454-4AC3-9190-38FD8B324A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381626" y="6259585"/>
                <a:ext cx="147780" cy="216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單箭頭接點 13">
                <a:extLst>
                  <a:ext uri="{FF2B5EF4-FFF2-40B4-BE49-F238E27FC236}">
                    <a16:creationId xmlns:a16="http://schemas.microsoft.com/office/drawing/2014/main" id="{DBCC2678-BBFE-45E0-9B17-D82ABE8FB3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86570" y="6259585"/>
                <a:ext cx="95105" cy="216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15495F3-0064-4D49-8CE2-FAA0D997930D}"/>
                  </a:ext>
                </a:extLst>
              </p:cNvPr>
              <p:cNvSpPr txBox="1"/>
              <p:nvPr/>
            </p:nvSpPr>
            <p:spPr>
              <a:xfrm>
                <a:off x="5100637" y="6397852"/>
                <a:ext cx="1390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per particle</a:t>
                </a:r>
                <a:endParaRPr lang="zh-TW" alt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0C22786-C993-418F-AD92-1927E8FAAC99}"/>
                  </a:ext>
                </a:extLst>
              </p:cNvPr>
              <p:cNvSpPr txBox="1"/>
              <p:nvPr/>
            </p:nvSpPr>
            <p:spPr>
              <a:xfrm>
                <a:off x="516763" y="5313173"/>
                <a:ext cx="2731261" cy="954107"/>
              </a:xfrm>
              <a:prstGeom prst="rect">
                <a:avLst/>
              </a:prstGeom>
              <a:noFill/>
              <a:ln w="57150">
                <a:solidFill>
                  <a:schemeClr val="bg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TW" sz="2800" dirty="0"/>
              </a:p>
              <a:p>
                <a:r>
                  <a:rPr lang="en-US" altLang="zh-TW" sz="2800" dirty="0"/>
                  <a:t>for constant 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20C22786-C993-418F-AD92-1927E8FAA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63" y="5313173"/>
                <a:ext cx="2731261" cy="954107"/>
              </a:xfrm>
              <a:prstGeom prst="rect">
                <a:avLst/>
              </a:prstGeom>
              <a:blipFill>
                <a:blip r:embed="rId7"/>
                <a:stretch>
                  <a:fillRect l="-3720" b="-13939"/>
                </a:stretch>
              </a:blipFill>
              <a:ln w="57150">
                <a:solidFill>
                  <a:schemeClr val="bg2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C8AE5F13-8701-487B-A9C1-C0CC4A99FD26}"/>
              </a:ext>
            </a:extLst>
          </p:cNvPr>
          <p:cNvGrpSpPr>
            <a:grpSpLocks noChangeAspect="1"/>
          </p:cNvGrpSpPr>
          <p:nvPr/>
        </p:nvGrpSpPr>
        <p:grpSpPr>
          <a:xfrm>
            <a:off x="413567" y="1631549"/>
            <a:ext cx="1789702" cy="789002"/>
            <a:chOff x="442142" y="1631549"/>
            <a:chExt cx="1789702" cy="789002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FB8729C0-056E-443B-8D87-9D890190C27C}"/>
                </a:ext>
              </a:extLst>
            </p:cNvPr>
            <p:cNvSpPr/>
            <p:nvPr/>
          </p:nvSpPr>
          <p:spPr>
            <a:xfrm>
              <a:off x="442142" y="1631549"/>
              <a:ext cx="1789702" cy="789002"/>
            </a:xfrm>
            <a:prstGeom prst="ellipse">
              <a:avLst/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D5127DB-59D2-4D89-8481-0E5E4E97471D}"/>
                    </a:ext>
                  </a:extLst>
                </p:cNvPr>
                <p:cNvSpPr txBox="1"/>
                <p:nvPr/>
              </p:nvSpPr>
              <p:spPr>
                <a:xfrm>
                  <a:off x="572498" y="1675032"/>
                  <a:ext cx="1514475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7D5127DB-59D2-4D89-8481-0E5E4E974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498" y="1675032"/>
                  <a:ext cx="1514475" cy="646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4633F2B-0059-46EF-A788-569A58A02CB8}"/>
              </a:ext>
            </a:extLst>
          </p:cNvPr>
          <p:cNvGrpSpPr>
            <a:grpSpLocks noChangeAspect="1"/>
          </p:cNvGrpSpPr>
          <p:nvPr/>
        </p:nvGrpSpPr>
        <p:grpSpPr>
          <a:xfrm>
            <a:off x="-278711" y="2365157"/>
            <a:ext cx="3819525" cy="897710"/>
            <a:chOff x="-278711" y="2365157"/>
            <a:chExt cx="3819525" cy="897710"/>
          </a:xfrm>
        </p:grpSpPr>
        <p:sp>
          <p:nvSpPr>
            <p:cNvPr id="30" name="矩形: 圓角 29">
              <a:extLst>
                <a:ext uri="{FF2B5EF4-FFF2-40B4-BE49-F238E27FC236}">
                  <a16:creationId xmlns:a16="http://schemas.microsoft.com/office/drawing/2014/main" id="{1DCD4109-B043-4F1F-85D1-4C47D204FA2F}"/>
                </a:ext>
              </a:extLst>
            </p:cNvPr>
            <p:cNvSpPr/>
            <p:nvPr/>
          </p:nvSpPr>
          <p:spPr>
            <a:xfrm>
              <a:off x="76199" y="2365157"/>
              <a:ext cx="3038475" cy="897710"/>
            </a:xfrm>
            <a:prstGeom prst="roundRect">
              <a:avLst>
                <a:gd name="adj" fmla="val 40010"/>
              </a:avLst>
            </a:prstGeom>
            <a:solidFill>
              <a:srgbClr val="FFFF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BA1AA6E2-8C44-4D40-849E-FA914C69A0BE}"/>
                    </a:ext>
                  </a:extLst>
                </p:cNvPr>
                <p:cNvSpPr txBox="1"/>
                <p:nvPr/>
              </p:nvSpPr>
              <p:spPr>
                <a:xfrm>
                  <a:off x="-278711" y="2435809"/>
                  <a:ext cx="3819525" cy="7507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𝑑𝑃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BA1AA6E2-8C44-4D40-849E-FA914C69A0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78711" y="2435809"/>
                  <a:ext cx="3819525" cy="75078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48DE0B07-5BFA-4A91-A663-E82C708893EF}"/>
              </a:ext>
            </a:extLst>
          </p:cNvPr>
          <p:cNvGrpSpPr/>
          <p:nvPr/>
        </p:nvGrpSpPr>
        <p:grpSpPr>
          <a:xfrm>
            <a:off x="8272678" y="2795751"/>
            <a:ext cx="3666645" cy="698879"/>
            <a:chOff x="1287101" y="3591552"/>
            <a:chExt cx="3666645" cy="698879"/>
          </a:xfrm>
          <a:solidFill>
            <a:schemeClr val="bg2"/>
          </a:solidFill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5F8D3E1-0993-4E76-9BB2-FFD103189E45}"/>
                </a:ext>
              </a:extLst>
            </p:cNvPr>
            <p:cNvSpPr/>
            <p:nvPr/>
          </p:nvSpPr>
          <p:spPr>
            <a:xfrm>
              <a:off x="1287101" y="3591552"/>
              <a:ext cx="3666644" cy="369332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altLang="zh-TW" dirty="0">
                  <a:solidFill>
                    <a:srgbClr val="000000"/>
                  </a:solidFill>
                  <a:latin typeface="Calibri" panose="020F0502020204030204" pitchFamily="34" charset="0"/>
                </a:rPr>
                <a:t>For constant pressure,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850A13C8-3C1C-459F-A21E-D08FB900B59A}"/>
                    </a:ext>
                  </a:extLst>
                </p:cNvPr>
                <p:cNvSpPr/>
                <p:nvPr/>
              </p:nvSpPr>
              <p:spPr>
                <a:xfrm>
                  <a:off x="1287101" y="3921099"/>
                  <a:ext cx="3666645" cy="369332"/>
                </a:xfrm>
                <a:prstGeom prst="rect">
                  <a:avLst/>
                </a:prstGeom>
                <a:grpFill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𝑃𝑉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𝑇𝑑𝑆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=đ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rev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𝑑𝑇</m:t>
                        </m:r>
                      </m:oMath>
                    </m:oMathPara>
                  </a14:m>
                  <a:endParaRPr lang="en-US" altLang="zh-TW" b="0" i="1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850A13C8-3C1C-459F-A21E-D08FB900B5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7101" y="3921099"/>
                  <a:ext cx="366664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弧形 23">
            <a:extLst>
              <a:ext uri="{FF2B5EF4-FFF2-40B4-BE49-F238E27FC236}">
                <a16:creationId xmlns:a16="http://schemas.microsoft.com/office/drawing/2014/main" id="{2FAC8AA6-F905-439A-9CBF-ADC0C1D24CEF}"/>
              </a:ext>
            </a:extLst>
          </p:cNvPr>
          <p:cNvSpPr/>
          <p:nvPr/>
        </p:nvSpPr>
        <p:spPr>
          <a:xfrm>
            <a:off x="6788269" y="2634810"/>
            <a:ext cx="1407710" cy="628057"/>
          </a:xfrm>
          <a:prstGeom prst="arc">
            <a:avLst>
              <a:gd name="adj1" fmla="val 16200000"/>
              <a:gd name="adj2" fmla="val 2105115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弧形 24">
            <a:extLst>
              <a:ext uri="{FF2B5EF4-FFF2-40B4-BE49-F238E27FC236}">
                <a16:creationId xmlns:a16="http://schemas.microsoft.com/office/drawing/2014/main" id="{19D913E0-BACF-4516-8160-794CFC1E57D3}"/>
              </a:ext>
            </a:extLst>
          </p:cNvPr>
          <p:cNvSpPr/>
          <p:nvPr/>
        </p:nvSpPr>
        <p:spPr>
          <a:xfrm>
            <a:off x="6846954" y="3884209"/>
            <a:ext cx="526432" cy="628057"/>
          </a:xfrm>
          <a:prstGeom prst="arc">
            <a:avLst>
              <a:gd name="adj1" fmla="val 16200000"/>
              <a:gd name="adj2" fmla="val 5021746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4D9D336-4E6F-4CAC-8ED6-2CFE3E4E0676}"/>
              </a:ext>
            </a:extLst>
          </p:cNvPr>
          <p:cNvSpPr/>
          <p:nvPr/>
        </p:nvSpPr>
        <p:spPr>
          <a:xfrm>
            <a:off x="9034797" y="5292546"/>
            <a:ext cx="2965766" cy="1200329"/>
          </a:xfrm>
          <a:prstGeom prst="rect">
            <a:avLst/>
          </a:prstGeom>
          <a:ln w="19050">
            <a:solidFill>
              <a:srgbClr val="FF3399"/>
            </a:solidFill>
          </a:ln>
        </p:spPr>
        <p:txBody>
          <a:bodyPr wrap="square">
            <a:spAutoFit/>
          </a:bodyPr>
          <a:lstStyle/>
          <a:p>
            <a:r>
              <a:rPr lang="en-US" altLang="zh-TW" u="sng" dirty="0"/>
              <a:t>Postulate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The entropy is a continuous and differentiable function of the extensive variables.</a:t>
            </a: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FC229C8-10D6-4495-BAE7-39172658ED1B}"/>
              </a:ext>
            </a:extLst>
          </p:cNvPr>
          <p:cNvCxnSpPr/>
          <p:nvPr/>
        </p:nvCxnSpPr>
        <p:spPr>
          <a:xfrm>
            <a:off x="5067300" y="6217967"/>
            <a:ext cx="576000" cy="0"/>
          </a:xfrm>
          <a:prstGeom prst="line">
            <a:avLst/>
          </a:prstGeom>
          <a:ln w="19050">
            <a:solidFill>
              <a:srgbClr val="FF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54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558081-F760-4A27-8862-136DDDB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8800" dirty="0"/>
              <a:t>Demo</a:t>
            </a:r>
            <a:endParaRPr lang="zh-TW" altLang="en-US" sz="8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9928A8C-49CD-45E9-ABDC-8347A7630C4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TW" dirty="0"/>
              </a:p>
              <a:p>
                <a:pPr algn="ctr"/>
                <a:r>
                  <a:rPr lang="en-US" altLang="zh-TW" dirty="0"/>
                  <a:t>extensivity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文字版面配置區 2">
                <a:extLst>
                  <a:ext uri="{FF2B5EF4-FFF2-40B4-BE49-F238E27FC236}">
                    <a16:creationId xmlns:a16="http://schemas.microsoft.com/office/drawing/2014/main" id="{29928A8C-49CD-45E9-ABDC-8347A7630C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1259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4041059-999C-4BA1-A2F3-E0D9BDEAEFEA}"/>
                  </a:ext>
                </a:extLst>
              </p:cNvPr>
              <p:cNvSpPr txBox="1"/>
              <p:nvPr/>
            </p:nvSpPr>
            <p:spPr>
              <a:xfrm>
                <a:off x="10189644" y="354078"/>
                <a:ext cx="1495425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4041059-999C-4BA1-A2F3-E0D9BDEA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644" y="354078"/>
                <a:ext cx="1495425" cy="5533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77A19DA-3369-4822-98F6-85646B558428}"/>
                  </a:ext>
                </a:extLst>
              </p:cNvPr>
              <p:cNvSpPr txBox="1"/>
              <p:nvPr/>
            </p:nvSpPr>
            <p:spPr>
              <a:xfrm>
                <a:off x="1283490" y="4375567"/>
                <a:ext cx="7227632" cy="828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dis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𝑚𝑈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3/2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func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TW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77A19DA-3369-4822-98F6-85646B558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90" y="4375567"/>
                <a:ext cx="7227632" cy="828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D620EAD-40CB-4CBF-8A5E-81A600CDE0D6}"/>
                  </a:ext>
                </a:extLst>
              </p:cNvPr>
              <p:cNvSpPr/>
              <p:nvPr/>
            </p:nvSpPr>
            <p:spPr>
              <a:xfrm>
                <a:off x="1283490" y="1587494"/>
                <a:ext cx="5512728" cy="828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</m:sub>
                          </m:sSub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𝑚𝑈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3/2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D620EAD-40CB-4CBF-8A5E-81A600CDE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90" y="1587494"/>
                <a:ext cx="5512728" cy="828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B662881E-44AE-44BF-B65E-A0A73B85B97D}"/>
              </a:ext>
            </a:extLst>
          </p:cNvPr>
          <p:cNvGrpSpPr>
            <a:grpSpLocks noChangeAspect="1"/>
          </p:cNvGrpSpPr>
          <p:nvPr/>
        </p:nvGrpSpPr>
        <p:grpSpPr>
          <a:xfrm>
            <a:off x="1283490" y="2486534"/>
            <a:ext cx="10908510" cy="828560"/>
            <a:chOff x="1759740" y="3181859"/>
            <a:chExt cx="10908510" cy="828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E4D23048-1CFD-4AF4-8F59-9147EF65F93F}"/>
                    </a:ext>
                  </a:extLst>
                </p:cNvPr>
                <p:cNvSpPr txBox="1"/>
                <p:nvPr/>
              </p:nvSpPr>
              <p:spPr>
                <a:xfrm>
                  <a:off x="1759740" y="3181859"/>
                  <a:ext cx="10908510" cy="828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dis</m:t>
                                </m:r>
                              </m:sub>
                            </m:sSub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𝑚𝑈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3/2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num>
                                              <m:den>
                                                <m:sSup>
                                                  <m:sSup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3/2</m:t>
                                        </m:r>
                                      </m:sup>
                                    </m:sSup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E4D23048-1CFD-4AF4-8F59-9147EF65F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740" y="3181859"/>
                  <a:ext cx="10908510" cy="8285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619535-DD3F-4D37-8642-A288FEA3A1B3}"/>
                </a:ext>
              </a:extLst>
            </p:cNvPr>
            <p:cNvSpPr/>
            <p:nvPr/>
          </p:nvSpPr>
          <p:spPr>
            <a:xfrm>
              <a:off x="10210798" y="3320975"/>
              <a:ext cx="962027" cy="550327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3F25A51-BFEC-4B63-8ADD-CC04A00F95E3}"/>
              </a:ext>
            </a:extLst>
          </p:cNvPr>
          <p:cNvGrpSpPr>
            <a:grpSpLocks noChangeAspect="1"/>
          </p:cNvGrpSpPr>
          <p:nvPr/>
        </p:nvGrpSpPr>
        <p:grpSpPr>
          <a:xfrm>
            <a:off x="1283489" y="5319605"/>
            <a:ext cx="8898735" cy="828560"/>
            <a:chOff x="1759739" y="5357705"/>
            <a:chExt cx="8898735" cy="828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E5B1F91-DF9E-47CB-B1E1-26192DAE0D5C}"/>
                    </a:ext>
                  </a:extLst>
                </p:cNvPr>
                <p:cNvSpPr/>
                <p:nvPr/>
              </p:nvSpPr>
              <p:spPr>
                <a:xfrm>
                  <a:off x="1759739" y="5357705"/>
                  <a:ext cx="8898735" cy="8285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num>
                                              <m:den>
                                                <m:sSup>
                                                  <m:sSup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3/2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altLang="zh-TW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num>
                                      <m:den>
                                        <m:r>
                                          <a:rPr lang="en-US" altLang="zh-TW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E5B1F91-DF9E-47CB-B1E1-26192DAE0D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739" y="5357705"/>
                  <a:ext cx="8898735" cy="8285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B44AF9-6D39-486E-BB40-2871AF488461}"/>
                </a:ext>
              </a:extLst>
            </p:cNvPr>
            <p:cNvSpPr/>
            <p:nvPr/>
          </p:nvSpPr>
          <p:spPr>
            <a:xfrm>
              <a:off x="7077075" y="5389305"/>
              <a:ext cx="1038225" cy="756000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0FCFF6-9129-4C19-8A75-B26AF01D516D}"/>
              </a:ext>
            </a:extLst>
          </p:cNvPr>
          <p:cNvSpPr txBox="1"/>
          <p:nvPr/>
        </p:nvSpPr>
        <p:spPr>
          <a:xfrm>
            <a:off x="714375" y="792682"/>
            <a:ext cx="390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Distinguishable</a:t>
            </a:r>
            <a:endParaRPr lang="zh-TW" altLang="en-US" sz="36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EDC6E05-DA8C-475C-8D56-173AFF7C00DD}"/>
              </a:ext>
            </a:extLst>
          </p:cNvPr>
          <p:cNvSpPr txBox="1"/>
          <p:nvPr/>
        </p:nvSpPr>
        <p:spPr>
          <a:xfrm>
            <a:off x="714375" y="3495577"/>
            <a:ext cx="390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Indistinguishable</a:t>
            </a:r>
            <a:endParaRPr lang="zh-TW" altLang="en-US" sz="3600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ABA4AE2-2D2B-4D05-BE7B-3CAA658994DB}"/>
              </a:ext>
            </a:extLst>
          </p:cNvPr>
          <p:cNvGrpSpPr>
            <a:grpSpLocks noChangeAspect="1"/>
          </p:cNvGrpSpPr>
          <p:nvPr/>
        </p:nvGrpSpPr>
        <p:grpSpPr>
          <a:xfrm>
            <a:off x="7822080" y="219544"/>
            <a:ext cx="2360144" cy="1468756"/>
            <a:chOff x="8384855" y="185117"/>
            <a:chExt cx="2470786" cy="153761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43D1523-0CCB-486C-8A31-CE18BE786EEB}"/>
                </a:ext>
              </a:extLst>
            </p:cNvPr>
            <p:cNvSpPr/>
            <p:nvPr/>
          </p:nvSpPr>
          <p:spPr>
            <a:xfrm>
              <a:off x="8384855" y="185117"/>
              <a:ext cx="2470786" cy="1537610"/>
            </a:xfrm>
            <a:prstGeom prst="rect">
              <a:avLst/>
            </a:prstGeom>
            <a:noFill/>
            <a:ln w="412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366AB058-D70E-4664-9840-1960E4907213}"/>
                </a:ext>
              </a:extLst>
            </p:cNvPr>
            <p:cNvSpPr/>
            <p:nvPr/>
          </p:nvSpPr>
          <p:spPr>
            <a:xfrm>
              <a:off x="8829674" y="428624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0E541F8F-3075-4E4E-9A8E-91DD441C56C9}"/>
                </a:ext>
              </a:extLst>
            </p:cNvPr>
            <p:cNvSpPr/>
            <p:nvPr/>
          </p:nvSpPr>
          <p:spPr>
            <a:xfrm>
              <a:off x="9569769" y="512443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BB192C6B-5CDA-4866-ACD2-12C523CC8279}"/>
                </a:ext>
              </a:extLst>
            </p:cNvPr>
            <p:cNvSpPr/>
            <p:nvPr/>
          </p:nvSpPr>
          <p:spPr>
            <a:xfrm>
              <a:off x="9099227" y="804812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BCC07B7-FDB6-4D0F-AA7C-23B6560B9B55}"/>
                </a:ext>
              </a:extLst>
            </p:cNvPr>
            <p:cNvSpPr/>
            <p:nvPr/>
          </p:nvSpPr>
          <p:spPr>
            <a:xfrm>
              <a:off x="9839322" y="888631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ECCD6646-9192-43A2-8675-6258DA41EDA6}"/>
                </a:ext>
              </a:extLst>
            </p:cNvPr>
            <p:cNvSpPr/>
            <p:nvPr/>
          </p:nvSpPr>
          <p:spPr>
            <a:xfrm>
              <a:off x="8532582" y="920645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2D784BA-FAD1-4500-AA7A-696D3748E4FD}"/>
                </a:ext>
              </a:extLst>
            </p:cNvPr>
            <p:cNvSpPr/>
            <p:nvPr/>
          </p:nvSpPr>
          <p:spPr>
            <a:xfrm>
              <a:off x="9417369" y="1099369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CD934C7-DA25-4EC2-958E-C1BF76B02AF9}"/>
                </a:ext>
              </a:extLst>
            </p:cNvPr>
            <p:cNvSpPr/>
            <p:nvPr/>
          </p:nvSpPr>
          <p:spPr>
            <a:xfrm>
              <a:off x="10372723" y="1050865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E0FDFEB4-E102-461C-BE01-48A608324E95}"/>
                </a:ext>
              </a:extLst>
            </p:cNvPr>
            <p:cNvSpPr/>
            <p:nvPr/>
          </p:nvSpPr>
          <p:spPr>
            <a:xfrm>
              <a:off x="9317355" y="1437600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8C7E907-E19E-42CA-A41F-A950E488A082}"/>
                </a:ext>
              </a:extLst>
            </p:cNvPr>
            <p:cNvSpPr/>
            <p:nvPr/>
          </p:nvSpPr>
          <p:spPr>
            <a:xfrm>
              <a:off x="9950770" y="1261603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9A1CE81C-D526-4F35-B41A-1C4424C223A9}"/>
                </a:ext>
              </a:extLst>
            </p:cNvPr>
            <p:cNvSpPr/>
            <p:nvPr/>
          </p:nvSpPr>
          <p:spPr>
            <a:xfrm>
              <a:off x="9350694" y="413724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1DC6A36-86A7-43D6-9E9B-4835DCF053E1}"/>
                </a:ext>
              </a:extLst>
            </p:cNvPr>
            <p:cNvSpPr/>
            <p:nvPr/>
          </p:nvSpPr>
          <p:spPr>
            <a:xfrm>
              <a:off x="10306048" y="365220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5A77B37A-272D-4ED9-AE93-784E6B703832}"/>
                </a:ext>
              </a:extLst>
            </p:cNvPr>
            <p:cNvSpPr/>
            <p:nvPr/>
          </p:nvSpPr>
          <p:spPr>
            <a:xfrm>
              <a:off x="9144000" y="492139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8CDDA322-BE37-4DE4-98B9-73EAE3918E20}"/>
                </a:ext>
              </a:extLst>
            </p:cNvPr>
            <p:cNvSpPr/>
            <p:nvPr/>
          </p:nvSpPr>
          <p:spPr>
            <a:xfrm>
              <a:off x="9808721" y="1542138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1F2978F-50C0-4698-97F5-99CA0697FB5C}"/>
                </a:ext>
              </a:extLst>
            </p:cNvPr>
            <p:cNvSpPr/>
            <p:nvPr/>
          </p:nvSpPr>
          <p:spPr>
            <a:xfrm>
              <a:off x="10163999" y="645755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F844ED30-B40D-4770-9F1D-C7C4B5E1FD63}"/>
                </a:ext>
              </a:extLst>
            </p:cNvPr>
            <p:cNvSpPr/>
            <p:nvPr/>
          </p:nvSpPr>
          <p:spPr>
            <a:xfrm>
              <a:off x="8914201" y="1235442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6B95F6F7-F81B-4965-A49E-C2FC7EE8B6EA}"/>
                </a:ext>
              </a:extLst>
            </p:cNvPr>
            <p:cNvSpPr/>
            <p:nvPr/>
          </p:nvSpPr>
          <p:spPr>
            <a:xfrm>
              <a:off x="8772152" y="1515977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E3E2E2E1-21D2-4FF5-9C10-80DA23854E37}"/>
                </a:ext>
              </a:extLst>
            </p:cNvPr>
            <p:cNvSpPr/>
            <p:nvPr/>
          </p:nvSpPr>
          <p:spPr>
            <a:xfrm>
              <a:off x="10562649" y="1159242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E96DAB30-FC7A-40A3-9766-8DE08587EFD1}"/>
                </a:ext>
              </a:extLst>
            </p:cNvPr>
            <p:cNvSpPr/>
            <p:nvPr/>
          </p:nvSpPr>
          <p:spPr>
            <a:xfrm>
              <a:off x="10420600" y="1439777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3ADB4BB3-D1FB-4299-A0C7-C183328DD243}"/>
              </a:ext>
            </a:extLst>
          </p:cNvPr>
          <p:cNvSpPr/>
          <p:nvPr/>
        </p:nvSpPr>
        <p:spPr>
          <a:xfrm>
            <a:off x="3998464" y="-356336"/>
            <a:ext cx="3276000" cy="1116000"/>
          </a:xfrm>
          <a:prstGeom prst="roundRect">
            <a:avLst>
              <a:gd name="adj" fmla="val 40249"/>
            </a:avLst>
          </a:prstGeom>
          <a:solidFill>
            <a:srgbClr val="CC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70000"/>
              </a:lnSpc>
            </a:pPr>
            <a:r>
              <a:rPr lang="en-US" altLang="zh-TW" sz="3600" dirty="0">
                <a:solidFill>
                  <a:schemeClr val="tx1"/>
                </a:solidFill>
                <a:latin typeface="+mj-lt"/>
              </a:rPr>
              <a:t> Gibbs paradox</a:t>
            </a:r>
            <a:endParaRPr lang="zh-TW" altLang="en-US" sz="3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F592FC-31FB-4C57-BB2D-771294AFF63C}"/>
              </a:ext>
            </a:extLst>
          </p:cNvPr>
          <p:cNvSpPr txBox="1"/>
          <p:nvPr/>
        </p:nvSpPr>
        <p:spPr>
          <a:xfrm>
            <a:off x="10446986" y="1166286"/>
            <a:ext cx="1140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Ideal gas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9230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F4B2205C-6DB6-4944-9118-BBBE9F914009}"/>
              </a:ext>
            </a:extLst>
          </p:cNvPr>
          <p:cNvSpPr/>
          <p:nvPr/>
        </p:nvSpPr>
        <p:spPr>
          <a:xfrm>
            <a:off x="3998464" y="-356336"/>
            <a:ext cx="3276000" cy="1116000"/>
          </a:xfrm>
          <a:prstGeom prst="roundRect">
            <a:avLst>
              <a:gd name="adj" fmla="val 40249"/>
            </a:avLst>
          </a:prstGeom>
          <a:solidFill>
            <a:srgbClr val="CCFF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70000"/>
              </a:lnSpc>
            </a:pPr>
            <a:r>
              <a:rPr lang="en-US" altLang="zh-TW" sz="3600" dirty="0">
                <a:solidFill>
                  <a:schemeClr val="tx1"/>
                </a:solidFill>
                <a:latin typeface="+mj-lt"/>
              </a:rPr>
              <a:t> Gibbs paradox</a:t>
            </a:r>
            <a:endParaRPr lang="zh-TW" altLang="en-US" sz="3600" dirty="0">
              <a:solidFill>
                <a:schemeClr val="tx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4041059-999C-4BA1-A2F3-E0D9BDEAEFEA}"/>
                  </a:ext>
                </a:extLst>
              </p:cNvPr>
              <p:cNvSpPr txBox="1"/>
              <p:nvPr/>
            </p:nvSpPr>
            <p:spPr>
              <a:xfrm>
                <a:off x="10189644" y="354078"/>
                <a:ext cx="1495425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84041059-999C-4BA1-A2F3-E0D9BDEA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644" y="354078"/>
                <a:ext cx="1495425" cy="5533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77A19DA-3369-4822-98F6-85646B558428}"/>
                  </a:ext>
                </a:extLst>
              </p:cNvPr>
              <p:cNvSpPr txBox="1"/>
              <p:nvPr/>
            </p:nvSpPr>
            <p:spPr>
              <a:xfrm>
                <a:off x="1283490" y="4375567"/>
                <a:ext cx="7227632" cy="828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dis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TW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𝑚𝑈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3/2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unc>
                        <m:funcPr>
                          <m:ctrlP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TW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func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altLang="zh-TW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77A19DA-3369-4822-98F6-85646B558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90" y="4375567"/>
                <a:ext cx="7227632" cy="828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D620EAD-40CB-4CBF-8A5E-81A600CDE0D6}"/>
                  </a:ext>
                </a:extLst>
              </p:cNvPr>
              <p:cNvSpPr/>
              <p:nvPr/>
            </p:nvSpPr>
            <p:spPr>
              <a:xfrm>
                <a:off x="1283490" y="1425569"/>
                <a:ext cx="5512728" cy="828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</m:sub>
                          </m:sSub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𝜋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𝑚𝑈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  <m:r>
                                                <a:rPr lang="en-US" altLang="zh-TW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3/2</m:t>
                                      </m:r>
                                    </m:sup>
                                  </m:sSup>
                                  <m:f>
                                    <m:f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D620EAD-40CB-4CBF-8A5E-81A600CDE0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490" y="1425569"/>
                <a:ext cx="5512728" cy="8285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B662881E-44AE-44BF-B65E-A0A73B85B97D}"/>
              </a:ext>
            </a:extLst>
          </p:cNvPr>
          <p:cNvGrpSpPr>
            <a:grpSpLocks noChangeAspect="1"/>
          </p:cNvGrpSpPr>
          <p:nvPr/>
        </p:nvGrpSpPr>
        <p:grpSpPr>
          <a:xfrm>
            <a:off x="1283490" y="2324609"/>
            <a:ext cx="10908510" cy="828560"/>
            <a:chOff x="1759740" y="3181859"/>
            <a:chExt cx="10908510" cy="828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E4D23048-1CFD-4AF4-8F59-9147EF65F93F}"/>
                    </a:ext>
                  </a:extLst>
                </p:cNvPr>
                <p:cNvSpPr txBox="1"/>
                <p:nvPr/>
              </p:nvSpPr>
              <p:spPr>
                <a:xfrm>
                  <a:off x="1759740" y="3181859"/>
                  <a:ext cx="10908510" cy="8285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dis</m:t>
                                </m:r>
                              </m:sub>
                            </m:sSub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𝑚𝑈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𝑁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3/2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num>
                                              <m:den>
                                                <m:sSup>
                                                  <m:sSup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3/2</m:t>
                                        </m:r>
                                      </m:sup>
                                    </m:sSup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4" name="文字方塊 3">
                  <a:extLst>
                    <a:ext uri="{FF2B5EF4-FFF2-40B4-BE49-F238E27FC236}">
                      <a16:creationId xmlns:a16="http://schemas.microsoft.com/office/drawing/2014/main" id="{E4D23048-1CFD-4AF4-8F59-9147EF65F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740" y="3181859"/>
                  <a:ext cx="10908510" cy="82856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619535-DD3F-4D37-8642-A288FEA3A1B3}"/>
                </a:ext>
              </a:extLst>
            </p:cNvPr>
            <p:cNvSpPr/>
            <p:nvPr/>
          </p:nvSpPr>
          <p:spPr>
            <a:xfrm>
              <a:off x="10382248" y="3320975"/>
              <a:ext cx="962027" cy="550327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3F25A51-BFEC-4B63-8ADD-CC04A00F95E3}"/>
              </a:ext>
            </a:extLst>
          </p:cNvPr>
          <p:cNvGrpSpPr>
            <a:grpSpLocks noChangeAspect="1"/>
          </p:cNvGrpSpPr>
          <p:nvPr/>
        </p:nvGrpSpPr>
        <p:grpSpPr>
          <a:xfrm>
            <a:off x="1283489" y="5319605"/>
            <a:ext cx="8898735" cy="828560"/>
            <a:chOff x="1759739" y="5357705"/>
            <a:chExt cx="8898735" cy="8285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E5B1F91-DF9E-47CB-B1E1-26192DAE0D5C}"/>
                    </a:ext>
                  </a:extLst>
                </p:cNvPr>
                <p:cNvSpPr/>
                <p:nvPr/>
              </p:nvSpPr>
              <p:spPr>
                <a:xfrm>
                  <a:off x="1759739" y="5357705"/>
                  <a:ext cx="8898735" cy="8285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zh-TW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𝑚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𝑘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𝐵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TW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num>
                                              <m:den>
                                                <m:sSup>
                                                  <m:sSupPr>
                                                    <m:ctrlP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pPr>
                                                  <m:e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h</m:t>
                                                    </m:r>
                                                  </m:e>
                                                  <m:sup>
                                                    <m:r>
                                                      <a:rPr lang="en-US" altLang="zh-TW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p>
                                                </m:sSup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3/2</m:t>
                                        </m:r>
                                      </m:sup>
                                    </m:sSup>
                                    <m:f>
                                      <m:fPr>
                                        <m:ctrlPr>
                                          <a:rPr lang="en-US" altLang="zh-TW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TW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num>
                                      <m:den>
                                        <m:r>
                                          <a:rPr lang="en-US" altLang="zh-TW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func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E5B1F91-DF9E-47CB-B1E1-26192DAE0D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739" y="5357705"/>
                  <a:ext cx="8898735" cy="8285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B44AF9-6D39-486E-BB40-2871AF488461}"/>
                </a:ext>
              </a:extLst>
            </p:cNvPr>
            <p:cNvSpPr/>
            <p:nvPr/>
          </p:nvSpPr>
          <p:spPr>
            <a:xfrm>
              <a:off x="7077075" y="5389305"/>
              <a:ext cx="1038225" cy="756000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F0FCFF6-9129-4C19-8A75-B26AF01D516D}"/>
              </a:ext>
            </a:extLst>
          </p:cNvPr>
          <p:cNvSpPr txBox="1"/>
          <p:nvPr/>
        </p:nvSpPr>
        <p:spPr>
          <a:xfrm>
            <a:off x="714375" y="630757"/>
            <a:ext cx="390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Distinguishable</a:t>
            </a:r>
            <a:endParaRPr lang="zh-TW" altLang="en-US" sz="36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EDC6E05-DA8C-475C-8D56-173AFF7C00DD}"/>
              </a:ext>
            </a:extLst>
          </p:cNvPr>
          <p:cNvSpPr txBox="1"/>
          <p:nvPr/>
        </p:nvSpPr>
        <p:spPr>
          <a:xfrm>
            <a:off x="714375" y="3495577"/>
            <a:ext cx="390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/>
              <a:t>Indistinguishable</a:t>
            </a:r>
            <a:endParaRPr lang="zh-TW" altLang="en-US" sz="3600" dirty="0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0ABA4AE2-2D2B-4D05-BE7B-3CAA658994DB}"/>
              </a:ext>
            </a:extLst>
          </p:cNvPr>
          <p:cNvGrpSpPr>
            <a:grpSpLocks noChangeAspect="1"/>
          </p:cNvGrpSpPr>
          <p:nvPr/>
        </p:nvGrpSpPr>
        <p:grpSpPr>
          <a:xfrm>
            <a:off x="7822080" y="219544"/>
            <a:ext cx="2360144" cy="1468756"/>
            <a:chOff x="8384855" y="185117"/>
            <a:chExt cx="2470786" cy="153761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43D1523-0CCB-486C-8A31-CE18BE786EEB}"/>
                </a:ext>
              </a:extLst>
            </p:cNvPr>
            <p:cNvSpPr/>
            <p:nvPr/>
          </p:nvSpPr>
          <p:spPr>
            <a:xfrm>
              <a:off x="8384855" y="185117"/>
              <a:ext cx="2470786" cy="1537610"/>
            </a:xfrm>
            <a:prstGeom prst="rect">
              <a:avLst/>
            </a:prstGeom>
            <a:noFill/>
            <a:ln w="412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366AB058-D70E-4664-9840-1960E4907213}"/>
                </a:ext>
              </a:extLst>
            </p:cNvPr>
            <p:cNvSpPr/>
            <p:nvPr/>
          </p:nvSpPr>
          <p:spPr>
            <a:xfrm>
              <a:off x="8829674" y="428624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0E541F8F-3075-4E4E-9A8E-91DD441C56C9}"/>
                </a:ext>
              </a:extLst>
            </p:cNvPr>
            <p:cNvSpPr/>
            <p:nvPr/>
          </p:nvSpPr>
          <p:spPr>
            <a:xfrm>
              <a:off x="9569769" y="512443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BB192C6B-5CDA-4866-ACD2-12C523CC8279}"/>
                </a:ext>
              </a:extLst>
            </p:cNvPr>
            <p:cNvSpPr/>
            <p:nvPr/>
          </p:nvSpPr>
          <p:spPr>
            <a:xfrm>
              <a:off x="9099227" y="804812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BCC07B7-FDB6-4D0F-AA7C-23B6560B9B55}"/>
                </a:ext>
              </a:extLst>
            </p:cNvPr>
            <p:cNvSpPr/>
            <p:nvPr/>
          </p:nvSpPr>
          <p:spPr>
            <a:xfrm>
              <a:off x="9839322" y="888631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ECCD6646-9192-43A2-8675-6258DA41EDA6}"/>
                </a:ext>
              </a:extLst>
            </p:cNvPr>
            <p:cNvSpPr/>
            <p:nvPr/>
          </p:nvSpPr>
          <p:spPr>
            <a:xfrm>
              <a:off x="8532582" y="920645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2D784BA-FAD1-4500-AA7A-696D3748E4FD}"/>
                </a:ext>
              </a:extLst>
            </p:cNvPr>
            <p:cNvSpPr/>
            <p:nvPr/>
          </p:nvSpPr>
          <p:spPr>
            <a:xfrm>
              <a:off x="9417369" y="1099369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CD934C7-DA25-4EC2-958E-C1BF76B02AF9}"/>
                </a:ext>
              </a:extLst>
            </p:cNvPr>
            <p:cNvSpPr/>
            <p:nvPr/>
          </p:nvSpPr>
          <p:spPr>
            <a:xfrm>
              <a:off x="10372723" y="1050865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E0FDFEB4-E102-461C-BE01-48A608324E95}"/>
                </a:ext>
              </a:extLst>
            </p:cNvPr>
            <p:cNvSpPr/>
            <p:nvPr/>
          </p:nvSpPr>
          <p:spPr>
            <a:xfrm>
              <a:off x="9317355" y="1437600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8C7E907-E19E-42CA-A41F-A950E488A082}"/>
                </a:ext>
              </a:extLst>
            </p:cNvPr>
            <p:cNvSpPr/>
            <p:nvPr/>
          </p:nvSpPr>
          <p:spPr>
            <a:xfrm>
              <a:off x="9950770" y="1261603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9A1CE81C-D526-4F35-B41A-1C4424C223A9}"/>
                </a:ext>
              </a:extLst>
            </p:cNvPr>
            <p:cNvSpPr/>
            <p:nvPr/>
          </p:nvSpPr>
          <p:spPr>
            <a:xfrm>
              <a:off x="9350694" y="413724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1DC6A36-86A7-43D6-9E9B-4835DCF053E1}"/>
                </a:ext>
              </a:extLst>
            </p:cNvPr>
            <p:cNvSpPr/>
            <p:nvPr/>
          </p:nvSpPr>
          <p:spPr>
            <a:xfrm>
              <a:off x="10306048" y="365220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5A77B37A-272D-4ED9-AE93-784E6B703832}"/>
                </a:ext>
              </a:extLst>
            </p:cNvPr>
            <p:cNvSpPr/>
            <p:nvPr/>
          </p:nvSpPr>
          <p:spPr>
            <a:xfrm>
              <a:off x="9144000" y="492139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8CDDA322-BE37-4DE4-98B9-73EAE3918E20}"/>
                </a:ext>
              </a:extLst>
            </p:cNvPr>
            <p:cNvSpPr/>
            <p:nvPr/>
          </p:nvSpPr>
          <p:spPr>
            <a:xfrm>
              <a:off x="9808721" y="1542138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1F2978F-50C0-4698-97F5-99CA0697FB5C}"/>
                </a:ext>
              </a:extLst>
            </p:cNvPr>
            <p:cNvSpPr/>
            <p:nvPr/>
          </p:nvSpPr>
          <p:spPr>
            <a:xfrm>
              <a:off x="10163999" y="645755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F844ED30-B40D-4770-9F1D-C7C4B5E1FD63}"/>
                </a:ext>
              </a:extLst>
            </p:cNvPr>
            <p:cNvSpPr/>
            <p:nvPr/>
          </p:nvSpPr>
          <p:spPr>
            <a:xfrm>
              <a:off x="8914201" y="1235442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6B95F6F7-F81B-4965-A49E-C2FC7EE8B6EA}"/>
                </a:ext>
              </a:extLst>
            </p:cNvPr>
            <p:cNvSpPr/>
            <p:nvPr/>
          </p:nvSpPr>
          <p:spPr>
            <a:xfrm>
              <a:off x="8772152" y="1515977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E3E2E2E1-21D2-4FF5-9C10-80DA23854E37}"/>
                </a:ext>
              </a:extLst>
            </p:cNvPr>
            <p:cNvSpPr/>
            <p:nvPr/>
          </p:nvSpPr>
          <p:spPr>
            <a:xfrm>
              <a:off x="10562649" y="1159242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E96DAB30-FC7A-40A3-9766-8DE08587EFD1}"/>
                </a:ext>
              </a:extLst>
            </p:cNvPr>
            <p:cNvSpPr/>
            <p:nvPr/>
          </p:nvSpPr>
          <p:spPr>
            <a:xfrm>
              <a:off x="10420600" y="1439777"/>
              <a:ext cx="94219" cy="94219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C969348A-3777-4781-B8ED-5BFA851D83A1}"/>
              </a:ext>
            </a:extLst>
          </p:cNvPr>
          <p:cNvSpPr/>
          <p:nvPr/>
        </p:nvSpPr>
        <p:spPr>
          <a:xfrm>
            <a:off x="428625" y="3414545"/>
            <a:ext cx="9648825" cy="305187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F2121E9-CBB0-434B-BA3E-548D8B0CEDD7}"/>
              </a:ext>
            </a:extLst>
          </p:cNvPr>
          <p:cNvSpPr/>
          <p:nvPr/>
        </p:nvSpPr>
        <p:spPr>
          <a:xfrm>
            <a:off x="6096000" y="1895557"/>
            <a:ext cx="6048000" cy="136636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0A6FDF7-B68D-44EA-A4CF-2332A3CEB33A}"/>
              </a:ext>
            </a:extLst>
          </p:cNvPr>
          <p:cNvSpPr/>
          <p:nvPr/>
        </p:nvSpPr>
        <p:spPr>
          <a:xfrm>
            <a:off x="600075" y="542147"/>
            <a:ext cx="6817608" cy="27197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113C620-88F2-4AAC-A98B-56821200D24A}"/>
              </a:ext>
            </a:extLst>
          </p:cNvPr>
          <p:cNvSpPr txBox="1"/>
          <p:nvPr/>
        </p:nvSpPr>
        <p:spPr>
          <a:xfrm>
            <a:off x="4411435" y="3495576"/>
            <a:ext cx="1887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</a:rPr>
              <a:t>identical</a:t>
            </a:r>
            <a:endParaRPr lang="zh-TW" altLang="en-US" sz="3600" dirty="0">
              <a:solidFill>
                <a:srgbClr val="00B0F0"/>
              </a:solidFill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47FE18E-69EE-485E-BB3A-A7E03CA7FB31}"/>
              </a:ext>
            </a:extLst>
          </p:cNvPr>
          <p:cNvSpPr txBox="1"/>
          <p:nvPr/>
        </p:nvSpPr>
        <p:spPr>
          <a:xfrm>
            <a:off x="10446986" y="1166286"/>
            <a:ext cx="1140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Ideal gas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6034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A39D0683-EB73-4F65-BD33-2704DD0303E8}"/>
              </a:ext>
            </a:extLst>
          </p:cNvPr>
          <p:cNvSpPr txBox="1"/>
          <p:nvPr/>
        </p:nvSpPr>
        <p:spPr>
          <a:xfrm>
            <a:off x="323851" y="6550223"/>
            <a:ext cx="3981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Stephen J. Blundell and Katherine M. Blundell 2010</a:t>
            </a:r>
            <a:endParaRPr lang="zh-TW" altLang="en-US" sz="14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E8570C9-FEE5-49AD-A530-A71B5CDBBA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440" t="41241" b="34467"/>
          <a:stretch/>
        </p:blipFill>
        <p:spPr>
          <a:xfrm>
            <a:off x="609596" y="2947987"/>
            <a:ext cx="5784991" cy="1390650"/>
          </a:xfrm>
          <a:prstGeom prst="rect">
            <a:avLst/>
          </a:prstGeom>
        </p:spPr>
      </p:pic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643F6539-7652-4EA2-A77E-6BBAC09DD159}"/>
              </a:ext>
            </a:extLst>
          </p:cNvPr>
          <p:cNvCxnSpPr/>
          <p:nvPr/>
        </p:nvCxnSpPr>
        <p:spPr>
          <a:xfrm>
            <a:off x="0" y="1000125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216CD84-6A2C-440C-B860-C034FE61FFB3}"/>
                  </a:ext>
                </a:extLst>
              </p:cNvPr>
              <p:cNvSpPr txBox="1"/>
              <p:nvPr/>
            </p:nvSpPr>
            <p:spPr>
              <a:xfrm>
                <a:off x="7134641" y="1670999"/>
                <a:ext cx="4128421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7216CD84-6A2C-440C-B860-C034FE61F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641" y="1670999"/>
                <a:ext cx="4128421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6396E4D-50E4-499F-80B5-F496001E35EE}"/>
                  </a:ext>
                </a:extLst>
              </p:cNvPr>
              <p:cNvSpPr txBox="1"/>
              <p:nvPr/>
            </p:nvSpPr>
            <p:spPr>
              <a:xfrm>
                <a:off x="7134641" y="3262058"/>
                <a:ext cx="4790660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=2⋅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6396E4D-50E4-499F-80B5-F496001E3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641" y="3262058"/>
                <a:ext cx="4790660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C836134-04FC-4635-A0E4-CB10630E57E9}"/>
                  </a:ext>
                </a:extLst>
              </p:cNvPr>
              <p:cNvSpPr txBox="1"/>
              <p:nvPr/>
            </p:nvSpPr>
            <p:spPr>
              <a:xfrm>
                <a:off x="7134641" y="4956864"/>
                <a:ext cx="4128421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fun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− 2⋅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C836134-04FC-4635-A0E4-CB10630E5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641" y="4956864"/>
                <a:ext cx="4128421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30">
            <a:extLst>
              <a:ext uri="{FF2B5EF4-FFF2-40B4-BE49-F238E27FC236}">
                <a16:creationId xmlns:a16="http://schemas.microsoft.com/office/drawing/2014/main" id="{ED652377-2041-42D5-B4ED-94B02B6DDFAE}"/>
              </a:ext>
            </a:extLst>
          </p:cNvPr>
          <p:cNvGrpSpPr>
            <a:grpSpLocks noChangeAspect="1"/>
          </p:cNvGrpSpPr>
          <p:nvPr/>
        </p:nvGrpSpPr>
        <p:grpSpPr>
          <a:xfrm>
            <a:off x="609598" y="4618881"/>
            <a:ext cx="5240151" cy="1390650"/>
            <a:chOff x="609598" y="4618881"/>
            <a:chExt cx="5240151" cy="1390650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6116E456-6C20-43C7-BA73-0B1640D3C7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589" t="76788" r="22518" b="-1080"/>
            <a:stretch/>
          </p:blipFill>
          <p:spPr>
            <a:xfrm>
              <a:off x="609598" y="4618881"/>
              <a:ext cx="4352928" cy="1390650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270FD339-1366-4F77-9554-B4AD55057B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0852" t="76788" r="2860" b="-1080"/>
            <a:stretch/>
          </p:blipFill>
          <p:spPr>
            <a:xfrm>
              <a:off x="4820634" y="4618881"/>
              <a:ext cx="1029115" cy="1390650"/>
            </a:xfrm>
            <a:prstGeom prst="rect">
              <a:avLst/>
            </a:prstGeom>
          </p:spPr>
        </p:pic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9EA2C056-6C61-4995-89F0-2E39BE594D5B}"/>
              </a:ext>
            </a:extLst>
          </p:cNvPr>
          <p:cNvGrpSpPr>
            <a:grpSpLocks noChangeAspect="1"/>
          </p:cNvGrpSpPr>
          <p:nvPr/>
        </p:nvGrpSpPr>
        <p:grpSpPr>
          <a:xfrm>
            <a:off x="514346" y="1147019"/>
            <a:ext cx="5880242" cy="1654075"/>
            <a:chOff x="514346" y="1147019"/>
            <a:chExt cx="5880242" cy="1654075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7B42834E-1E63-4B40-BFF2-24C45E2B2F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442" t="8237" b="67471"/>
            <a:stretch/>
          </p:blipFill>
          <p:spPr>
            <a:xfrm>
              <a:off x="609597" y="1410444"/>
              <a:ext cx="5784991" cy="139065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2622AE5D-CA8C-4363-AD74-0961B6B31B59}"/>
                    </a:ext>
                  </a:extLst>
                </p:cNvPr>
                <p:cNvSpPr txBox="1"/>
                <p:nvPr/>
              </p:nvSpPr>
              <p:spPr>
                <a:xfrm>
                  <a:off x="514346" y="1147019"/>
                  <a:ext cx="11525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2622AE5D-CA8C-4363-AD74-0961B6B31B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346" y="1147019"/>
                  <a:ext cx="115252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EFF1AF63-8C01-4C9B-9B48-FC3E58F15804}"/>
                    </a:ext>
                  </a:extLst>
                </p:cNvPr>
                <p:cNvSpPr txBox="1"/>
                <p:nvPr/>
              </p:nvSpPr>
              <p:spPr>
                <a:xfrm>
                  <a:off x="3324221" y="1154729"/>
                  <a:ext cx="115252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EFF1AF63-8C01-4C9B-9B48-FC3E58F15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4221" y="1154729"/>
                  <a:ext cx="115252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A0123FC-D971-423A-BB63-865A3048C201}"/>
                  </a:ext>
                </a:extLst>
              </p:cNvPr>
              <p:cNvSpPr txBox="1"/>
              <p:nvPr/>
            </p:nvSpPr>
            <p:spPr>
              <a:xfrm>
                <a:off x="217214" y="332794"/>
                <a:ext cx="22696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final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initial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A0123FC-D971-423A-BB63-865A3048C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214" y="332794"/>
                <a:ext cx="2269639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D58CDE6-3190-4729-8601-50A83D8E7087}"/>
              </a:ext>
            </a:extLst>
          </p:cNvPr>
          <p:cNvCxnSpPr/>
          <p:nvPr/>
        </p:nvCxnSpPr>
        <p:spPr>
          <a:xfrm>
            <a:off x="2533650" y="0"/>
            <a:ext cx="0" cy="10001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0951F928-3C52-4524-8AFA-999E941D7415}"/>
              </a:ext>
            </a:extLst>
          </p:cNvPr>
          <p:cNvGrpSpPr/>
          <p:nvPr/>
        </p:nvGrpSpPr>
        <p:grpSpPr>
          <a:xfrm>
            <a:off x="639654" y="5898116"/>
            <a:ext cx="3734577" cy="373820"/>
            <a:chOff x="639654" y="5917166"/>
            <a:chExt cx="3734577" cy="373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A5EC6B40-F212-4C36-914B-466966FDE229}"/>
                    </a:ext>
                  </a:extLst>
                </p:cNvPr>
                <p:cNvSpPr txBox="1"/>
                <p:nvPr/>
              </p:nvSpPr>
              <p:spPr>
                <a:xfrm>
                  <a:off x="3516981" y="5917166"/>
                  <a:ext cx="8572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A5EC6B40-F212-4C36-914B-466966FDE2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6981" y="5917166"/>
                  <a:ext cx="85725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F0B2D243-EF27-434A-8550-60193EC45A91}"/>
                    </a:ext>
                  </a:extLst>
                </p:cNvPr>
                <p:cNvSpPr txBox="1"/>
                <p:nvPr/>
              </p:nvSpPr>
              <p:spPr>
                <a:xfrm>
                  <a:off x="639654" y="5921447"/>
                  <a:ext cx="8572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F0B2D243-EF27-434A-8550-60193EC45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54" y="5921447"/>
                  <a:ext cx="85725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BACDE1D-4672-4DC4-8EB0-DB6AC67E50F4}"/>
                    </a:ext>
                  </a:extLst>
                </p:cNvPr>
                <p:cNvSpPr txBox="1"/>
                <p:nvPr/>
              </p:nvSpPr>
              <p:spPr>
                <a:xfrm>
                  <a:off x="1386483" y="5921654"/>
                  <a:ext cx="85725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BACDE1D-4672-4DC4-8EB0-DB6AC67E50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86483" y="5921654"/>
                  <a:ext cx="85725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1F17F302-CDE0-47B5-826E-73987E83F204}"/>
              </a:ext>
            </a:extLst>
          </p:cNvPr>
          <p:cNvSpPr/>
          <p:nvPr/>
        </p:nvSpPr>
        <p:spPr>
          <a:xfrm>
            <a:off x="6980804" y="157206"/>
            <a:ext cx="5148000" cy="855521"/>
          </a:xfrm>
          <a:prstGeom prst="roundRect">
            <a:avLst>
              <a:gd name="adj" fmla="val 38315"/>
            </a:avLst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68166D71-6F68-42EB-B70D-92728096AC00}"/>
              </a:ext>
            </a:extLst>
          </p:cNvPr>
          <p:cNvGrpSpPr>
            <a:grpSpLocks noChangeAspect="1"/>
          </p:cNvGrpSpPr>
          <p:nvPr/>
        </p:nvGrpSpPr>
        <p:grpSpPr>
          <a:xfrm>
            <a:off x="2657475" y="372069"/>
            <a:ext cx="4307685" cy="639983"/>
            <a:chOff x="1909189" y="967710"/>
            <a:chExt cx="3998696" cy="6399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2ED2271-4080-41CD-AEED-1ABB4F9FC88B}"/>
                    </a:ext>
                  </a:extLst>
                </p:cNvPr>
                <p:cNvSpPr txBox="1"/>
                <p:nvPr/>
              </p:nvSpPr>
              <p:spPr>
                <a:xfrm>
                  <a:off x="3371850" y="967710"/>
                  <a:ext cx="2536035" cy="639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E2ED2271-4080-41CD-AEED-1ABB4F9FC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1850" y="967710"/>
                  <a:ext cx="2536035" cy="63998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6072DBD-3B82-4A1D-B8C8-E6F23C1A4CC0}"/>
                </a:ext>
              </a:extLst>
            </p:cNvPr>
            <p:cNvSpPr/>
            <p:nvPr/>
          </p:nvSpPr>
          <p:spPr>
            <a:xfrm>
              <a:off x="1909189" y="982477"/>
              <a:ext cx="16151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dirty="0"/>
                <a:t>Distinguishable</a:t>
              </a:r>
              <a:endParaRPr lang="zh-TW" altLang="en-US" dirty="0"/>
            </a:p>
          </p:txBody>
        </p:sp>
      </p:grpSp>
      <p:sp>
        <p:nvSpPr>
          <p:cNvPr id="59" name="矩形 58">
            <a:extLst>
              <a:ext uri="{FF2B5EF4-FFF2-40B4-BE49-F238E27FC236}">
                <a16:creationId xmlns:a16="http://schemas.microsoft.com/office/drawing/2014/main" id="{59CFA06D-98AA-4AE6-B00F-CD83FD90392D}"/>
              </a:ext>
            </a:extLst>
          </p:cNvPr>
          <p:cNvSpPr/>
          <p:nvPr/>
        </p:nvSpPr>
        <p:spPr>
          <a:xfrm>
            <a:off x="7007527" y="398730"/>
            <a:ext cx="1773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Indistinguishable</a:t>
            </a:r>
            <a:endParaRPr lang="zh-TW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93ACE83-FDEE-4097-8D14-38930407913E}"/>
              </a:ext>
            </a:extLst>
          </p:cNvPr>
          <p:cNvSpPr/>
          <p:nvPr/>
        </p:nvSpPr>
        <p:spPr>
          <a:xfrm>
            <a:off x="4697193" y="285670"/>
            <a:ext cx="962027" cy="55032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8EAC82F8-B9C1-49CE-97D6-6F5E3373F098}"/>
              </a:ext>
            </a:extLst>
          </p:cNvPr>
          <p:cNvGrpSpPr>
            <a:grpSpLocks noChangeAspect="1"/>
          </p:cNvGrpSpPr>
          <p:nvPr/>
        </p:nvGrpSpPr>
        <p:grpSpPr>
          <a:xfrm>
            <a:off x="8722514" y="204832"/>
            <a:ext cx="3516281" cy="756000"/>
            <a:chOff x="8722514" y="204832"/>
            <a:chExt cx="3516281" cy="756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D27F55E1-9864-4782-8971-2AD4A3096D22}"/>
                    </a:ext>
                  </a:extLst>
                </p:cNvPr>
                <p:cNvSpPr/>
                <p:nvPr/>
              </p:nvSpPr>
              <p:spPr>
                <a:xfrm>
                  <a:off x="8722514" y="228712"/>
                  <a:ext cx="3516281" cy="6090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num>
                              <m:den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func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𝑐𝑜𝑛𝑠𝑡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.</m:t>
                        </m:r>
                      </m:oMath>
                    </m:oMathPara>
                  </a14:m>
                  <a:endParaRPr lang="en-US" altLang="zh-TW" b="0" dirty="0"/>
                </a:p>
              </p:txBody>
            </p:sp>
          </mc:Choice>
          <mc:Fallback xmlns="">
            <p:sp>
              <p:nvSpPr>
                <p:cNvPr id="62" name="矩形 61">
                  <a:extLst>
                    <a:ext uri="{FF2B5EF4-FFF2-40B4-BE49-F238E27FC236}">
                      <a16:creationId xmlns:a16="http://schemas.microsoft.com/office/drawing/2014/main" id="{D27F55E1-9864-4782-8971-2AD4A3096D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2514" y="228712"/>
                  <a:ext cx="3516281" cy="6090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792396E1-987D-4862-A76D-DCEF1EBFE77E}"/>
                </a:ext>
              </a:extLst>
            </p:cNvPr>
            <p:cNvSpPr/>
            <p:nvPr/>
          </p:nvSpPr>
          <p:spPr>
            <a:xfrm>
              <a:off x="9161809" y="204832"/>
              <a:ext cx="1038225" cy="756000"/>
            </a:xfrm>
            <a:prstGeom prst="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F5CB7FE-3CC1-49E4-885C-DFDE55E91CF6}"/>
              </a:ext>
            </a:extLst>
          </p:cNvPr>
          <p:cNvGrpSpPr/>
          <p:nvPr/>
        </p:nvGrpSpPr>
        <p:grpSpPr>
          <a:xfrm>
            <a:off x="2971800" y="166732"/>
            <a:ext cx="3467100" cy="749918"/>
            <a:chOff x="3143250" y="166732"/>
            <a:chExt cx="3467100" cy="749918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5FBC8145-8AC1-480F-9FAF-10FA5F22423F}"/>
                </a:ext>
              </a:extLst>
            </p:cNvPr>
            <p:cNvCxnSpPr/>
            <p:nvPr/>
          </p:nvCxnSpPr>
          <p:spPr>
            <a:xfrm>
              <a:off x="3143250" y="247439"/>
              <a:ext cx="3467100" cy="668039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32CB3443-130B-4FB1-B680-1816019A46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1825" y="166732"/>
              <a:ext cx="3407044" cy="749918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402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AD9C3-F757-4C34-AA05-C659DCCB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Identical particles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834942-4E4B-4E25-A920-F61A1F309DD9}"/>
              </a:ext>
            </a:extLst>
          </p:cNvPr>
          <p:cNvSpPr/>
          <p:nvPr/>
        </p:nvSpPr>
        <p:spPr>
          <a:xfrm>
            <a:off x="230181" y="6550223"/>
            <a:ext cx="411163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400" dirty="0"/>
              <a:t>NIST</a:t>
            </a:r>
            <a:r>
              <a:rPr lang="zh-TW" altLang="en-US" sz="1400" dirty="0"/>
              <a:t> </a:t>
            </a:r>
            <a:r>
              <a:rPr lang="en-US" altLang="zh-TW" sz="1400" dirty="0"/>
              <a:t>(</a:t>
            </a:r>
            <a:r>
              <a:rPr lang="zh-TW" altLang="en-US" sz="1400" dirty="0"/>
              <a:t>美國國家標準與技術研究院</a:t>
            </a:r>
            <a:r>
              <a:rPr lang="en-US" altLang="zh-TW" sz="1400" dirty="0"/>
              <a:t>)/</a:t>
            </a:r>
            <a:r>
              <a:rPr lang="en-US" altLang="zh-TW" sz="1400" dirty="0" err="1"/>
              <a:t>anyon</a:t>
            </a:r>
            <a:r>
              <a:rPr lang="en-US" altLang="zh-TW" sz="1400" dirty="0"/>
              <a:t> animation</a:t>
            </a:r>
            <a:endParaRPr lang="zh-TW" altLang="en-US" sz="1400" dirty="0"/>
          </a:p>
        </p:txBody>
      </p:sp>
      <p:pic>
        <p:nvPicPr>
          <p:cNvPr id="1028" name="Picture 4" descr="anyon animation">
            <a:extLst>
              <a:ext uri="{FF2B5EF4-FFF2-40B4-BE49-F238E27FC236}">
                <a16:creationId xmlns:a16="http://schemas.microsoft.com/office/drawing/2014/main" id="{C1978ABD-006A-4175-8724-469A6170EBA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828925"/>
            <a:ext cx="7620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B45D5D9-E640-4FCA-9A73-D899B1767CB6}"/>
                  </a:ext>
                </a:extLst>
              </p:cNvPr>
              <p:cNvSpPr txBox="1"/>
              <p:nvPr/>
            </p:nvSpPr>
            <p:spPr>
              <a:xfrm>
                <a:off x="5886449" y="827851"/>
                <a:ext cx="4333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000" dirty="0"/>
                  <a:t>(the same mass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/>
                  <a:t>,  charge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TW" sz="2000" dirty="0"/>
                  <a:t>,  spin  </a:t>
                </a: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TW" sz="2000" dirty="0"/>
                  <a:t>)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B45D5D9-E640-4FCA-9A73-D899B1767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449" y="827851"/>
                <a:ext cx="4333876" cy="400110"/>
              </a:xfrm>
              <a:prstGeom prst="rect">
                <a:avLst/>
              </a:prstGeom>
              <a:blipFill>
                <a:blip r:embed="rId3"/>
                <a:stretch>
                  <a:fillRect l="-1547" t="-9231" b="-2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0A50B3D6-1B94-42C5-A07D-3C35C0487C63}"/>
              </a:ext>
            </a:extLst>
          </p:cNvPr>
          <p:cNvSpPr txBox="1"/>
          <p:nvPr/>
        </p:nvSpPr>
        <p:spPr>
          <a:xfrm>
            <a:off x="6286500" y="2057398"/>
            <a:ext cx="41116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e.g., electron, proton, neutron</a:t>
            </a:r>
            <a:endParaRPr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116CB53-A580-4019-B08B-61368E9BE9B6}"/>
              </a:ext>
            </a:extLst>
          </p:cNvPr>
          <p:cNvSpPr txBox="1"/>
          <p:nvPr/>
        </p:nvSpPr>
        <p:spPr>
          <a:xfrm>
            <a:off x="3276600" y="2057398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e.g., photon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784871D-4A53-47B9-8A38-45DA8F94BE35}"/>
                  </a:ext>
                </a:extLst>
              </p:cNvPr>
              <p:cNvSpPr txBox="1"/>
              <p:nvPr/>
            </p:nvSpPr>
            <p:spPr>
              <a:xfrm>
                <a:off x="923926" y="5534025"/>
                <a:ext cx="5105400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TW" b="0" i="1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784871D-4A53-47B9-8A38-45DA8F94B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926" y="5534025"/>
                <a:ext cx="5105400" cy="6646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32E277F-1AB4-430E-A83A-161F1545A3C7}"/>
                  </a:ext>
                </a:extLst>
              </p:cNvPr>
              <p:cNvSpPr txBox="1"/>
              <p:nvPr/>
            </p:nvSpPr>
            <p:spPr>
              <a:xfrm>
                <a:off x="6191250" y="5512831"/>
                <a:ext cx="5105400" cy="6646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Ψ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TW" b="0" i="1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E32E277F-1AB4-430E-A83A-161F1545A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0" y="5512831"/>
                <a:ext cx="5105400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246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2514600" y="457200"/>
            <a:ext cx="7162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000" b="1">
                <a:solidFill>
                  <a:srgbClr val="FFFFF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squeaky chalk sound" pitchFamily="2" charset="-120"/>
                <a:cs typeface="+mj-cs"/>
              </a:rPr>
              <a:t>Identical particles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2600" y="1392824"/>
            <a:ext cx="868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Due to the quantum nature, we are dealing with identical particles that cannot be distinguished from one another. Let us take a simple two-particle system for example,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52600" y="2006025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wave function for the two particles occupying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</a:t>
            </a: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and j states can be written as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2" y="2438402"/>
            <a:ext cx="702171" cy="203581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752600" y="2743200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Since we are not able to distinguish them, we expect that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117" y="3200020"/>
            <a:ext cx="2097979" cy="22918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752600" y="3505200"/>
            <a:ext cx="868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which gives rise to two possibilities,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327" y="4065006"/>
            <a:ext cx="1704227" cy="20358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064325" y="4004846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1.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5055607"/>
            <a:ext cx="1861484" cy="20358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057400" y="4995446"/>
            <a:ext cx="60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2433943"/>
            <a:ext cx="1277562" cy="21211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438400"/>
            <a:ext cx="176762" cy="18163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001000" y="2362201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     is the single particle wave function of state </a:t>
            </a:r>
            <a:r>
              <a:rPr kumimoji="0" lang="en-US" altLang="zh-TW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022" y="4102484"/>
            <a:ext cx="3409678" cy="212114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77" y="5105400"/>
            <a:ext cx="3409678" cy="21211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334000" y="4419600"/>
            <a:ext cx="48807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wave function is symmetric under exchange of particles.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410200" y="5376446"/>
            <a:ext cx="5181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wave function is antisymmetric under exchange of particles.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905000" y="4343400"/>
            <a:ext cx="2895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kind of particles is boson.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905000" y="5376446"/>
            <a:ext cx="3124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kind of particles is fermion.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905000" y="6010871"/>
            <a:ext cx="3124200" cy="338554"/>
            <a:chOff x="381000" y="6138446"/>
            <a:chExt cx="3124200" cy="338554"/>
          </a:xfrm>
        </p:grpSpPr>
        <p:pic>
          <p:nvPicPr>
            <p:cNvPr id="33" name="Picture 3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7399" y="6236555"/>
              <a:ext cx="415695" cy="174324"/>
            </a:xfrm>
            <a:prstGeom prst="rect">
              <a:avLst/>
            </a:prstGeom>
          </p:spPr>
        </p:pic>
        <p:sp>
          <p:nvSpPr>
            <p:cNvPr id="76" name="TextBox 75"/>
            <p:cNvSpPr txBox="1"/>
            <p:nvPr/>
          </p:nvSpPr>
          <p:spPr>
            <a:xfrm>
              <a:off x="381000" y="6138446"/>
              <a:ext cx="3124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For fermions, if            , 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</p:grpSp>
      <p:pic>
        <p:nvPicPr>
          <p:cNvPr id="34" name="Picture 3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867" y="6069805"/>
            <a:ext cx="3758325" cy="20358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153400" y="5892226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No doubly-occupied state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(Pauli exclusion principle)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1676400" y="218183"/>
            <a:ext cx="3429001" cy="3456295"/>
            <a:chOff x="152399" y="218182"/>
            <a:chExt cx="3429001" cy="3456295"/>
          </a:xfrm>
        </p:grpSpPr>
        <p:sp>
          <p:nvSpPr>
            <p:cNvPr id="79" name="TextBox 78"/>
            <p:cNvSpPr txBox="1"/>
            <p:nvPr/>
          </p:nvSpPr>
          <p:spPr>
            <a:xfrm>
              <a:off x="152399" y="218182"/>
              <a:ext cx="342900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Calibri" panose="020F0502020204030204" pitchFamily="34" charset="0"/>
                </a:rPr>
                <a:t>Look up for exchange (permutation) operator. It has to be not only unitary but also its square is an identity matrix which guarantees real eigenvalues.</a:t>
              </a:r>
              <a:endParaRPr kumimoji="0" lang="zh-TW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endParaRPr>
            </a:p>
          </p:txBody>
        </p:sp>
        <p:cxnSp>
          <p:nvCxnSpPr>
            <p:cNvPr id="37" name="Elbow Connector 36"/>
            <p:cNvCxnSpPr/>
            <p:nvPr/>
          </p:nvCxnSpPr>
          <p:spPr>
            <a:xfrm rot="10800000">
              <a:off x="228601" y="756791"/>
              <a:ext cx="72000" cy="2917686"/>
            </a:xfrm>
            <a:prstGeom prst="bentConnector3">
              <a:avLst>
                <a:gd name="adj1" fmla="val 355552"/>
              </a:avLst>
            </a:prstGeom>
            <a:ln w="28575">
              <a:solidFill>
                <a:srgbClr val="FFFF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4595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97"/>
            </p:par>
          </p:childTnLst>
        </p:cTn>
      </p:par>
    </p:tnLst>
    <p:bldLst>
      <p:bldP spid="40" grpId="0"/>
      <p:bldP spid="44" grpId="0"/>
      <p:bldP spid="46" grpId="0"/>
      <p:bldP spid="57" grpId="0"/>
      <p:bldP spid="59" grpId="0"/>
      <p:bldP spid="60" grpId="0"/>
      <p:bldP spid="65" grpId="0"/>
      <p:bldP spid="68" grpId="0"/>
      <p:bldP spid="71" grpId="0"/>
      <p:bldP spid="74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29BF3A-C1C6-4636-BCD5-B0D9371C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TW" sz="4000" dirty="0"/>
              <a:t>Surface chemistry </a:t>
            </a:r>
            <a:r>
              <a:rPr lang="en-US" altLang="zh-TW" sz="3600" dirty="0"/>
              <a:t>--- </a:t>
            </a:r>
            <a:r>
              <a:rPr lang="en-US" altLang="zh-TW" sz="3200" dirty="0"/>
              <a:t>Langmuir adsorption</a:t>
            </a:r>
            <a:r>
              <a:rPr lang="zh-TW" altLang="en-US" sz="3200" dirty="0"/>
              <a:t> </a:t>
            </a:r>
            <a:r>
              <a:rPr lang="en-US" altLang="zh-TW" sz="3200" dirty="0"/>
              <a:t>(</a:t>
            </a:r>
            <a:r>
              <a:rPr lang="zh-TW" altLang="en-US" sz="3200" dirty="0"/>
              <a:t>吸附</a:t>
            </a:r>
            <a:r>
              <a:rPr lang="en-US" altLang="zh-TW" sz="3200" dirty="0"/>
              <a:t>) model</a:t>
            </a:r>
            <a:endParaRPr lang="zh-TW" altLang="en-US" sz="360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0E8DA22A-8376-4026-9C8E-7DB223B4DD6F}"/>
              </a:ext>
            </a:extLst>
          </p:cNvPr>
          <p:cNvGrpSpPr>
            <a:grpSpLocks noChangeAspect="1"/>
          </p:cNvGrpSpPr>
          <p:nvPr/>
        </p:nvGrpSpPr>
        <p:grpSpPr>
          <a:xfrm>
            <a:off x="533399" y="2160588"/>
            <a:ext cx="5005096" cy="3230562"/>
            <a:chOff x="314324" y="2351088"/>
            <a:chExt cx="5005096" cy="3230562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4644C566-8D17-4D54-92FD-D185EDB74E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4324" y="2351088"/>
              <a:ext cx="5005096" cy="3230562"/>
              <a:chOff x="314324" y="2351088"/>
              <a:chExt cx="5005096" cy="3230562"/>
            </a:xfrm>
          </p:grpSpPr>
          <p:pic>
            <p:nvPicPr>
              <p:cNvPr id="1028" name="Picture 4" descr="https://thumb.wikimedia.org/wikipedia/commons/thumb/d/d6/Langmuir_Adsorption_Model.jpg/330px-Langmuir_Adsorption_Model.jpg?utm_source=en.wikipedia.org&amp;utm_campaign=parser&amp;utm_content=thumbnail">
                <a:extLst>
                  <a:ext uri="{FF2B5EF4-FFF2-40B4-BE49-F238E27FC236}">
                    <a16:creationId xmlns:a16="http://schemas.microsoft.com/office/drawing/2014/main" id="{CE6EF345-825E-4183-BDEB-4B13066153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324" y="2351088"/>
                <a:ext cx="5005096" cy="32305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91D3461-EFC8-477A-B2D2-9673E805E2A6}"/>
                  </a:ext>
                </a:extLst>
              </p:cNvPr>
              <p:cNvSpPr/>
              <p:nvPr/>
            </p:nvSpPr>
            <p:spPr>
              <a:xfrm>
                <a:off x="1068873" y="4844534"/>
                <a:ext cx="16722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immobile state</a:t>
                </a:r>
                <a:endParaRPr lang="zh-TW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8" name="橢圓 7">
                <a:extLst>
                  <a:ext uri="{FF2B5EF4-FFF2-40B4-BE49-F238E27FC236}">
                    <a16:creationId xmlns:a16="http://schemas.microsoft.com/office/drawing/2014/main" id="{2DD29AEB-563A-453F-B463-64CD1F9426FC}"/>
                  </a:ext>
                </a:extLst>
              </p:cNvPr>
              <p:cNvSpPr/>
              <p:nvPr/>
            </p:nvSpPr>
            <p:spPr>
              <a:xfrm>
                <a:off x="1288923" y="3321000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1642B755-8A05-4F2F-A95F-118D0F130F70}"/>
                  </a:ext>
                </a:extLst>
              </p:cNvPr>
              <p:cNvSpPr/>
              <p:nvPr/>
            </p:nvSpPr>
            <p:spPr>
              <a:xfrm>
                <a:off x="1571422" y="2624479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80DC1AA1-B687-483D-A9A3-78E4F21E0A0D}"/>
                  </a:ext>
                </a:extLst>
              </p:cNvPr>
              <p:cNvSpPr/>
              <p:nvPr/>
            </p:nvSpPr>
            <p:spPr>
              <a:xfrm>
                <a:off x="2241423" y="2913454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98AFD7EF-98B4-4CF6-8B5F-0D4D88FF9594}"/>
                  </a:ext>
                </a:extLst>
              </p:cNvPr>
              <p:cNvSpPr/>
              <p:nvPr/>
            </p:nvSpPr>
            <p:spPr>
              <a:xfrm>
                <a:off x="2907725" y="3008704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63A1CEAD-3546-4FDE-9951-585C744FC26D}"/>
                  </a:ext>
                </a:extLst>
              </p:cNvPr>
              <p:cNvSpPr/>
              <p:nvPr/>
            </p:nvSpPr>
            <p:spPr>
              <a:xfrm>
                <a:off x="3670173" y="2644236"/>
                <a:ext cx="108000" cy="10800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6E0C9A2-7734-4BB0-8C66-9347C878CEA6}"/>
                  </a:ext>
                </a:extLst>
              </p:cNvPr>
              <p:cNvSpPr/>
              <p:nvPr/>
            </p:nvSpPr>
            <p:spPr>
              <a:xfrm>
                <a:off x="568174" y="2798688"/>
                <a:ext cx="11079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rgbClr val="0070C0"/>
                    </a:solidFill>
                    <a:latin typeface="Arial" panose="020B0604020202020204" pitchFamily="34" charset="0"/>
                  </a:rPr>
                  <a:t>ideal gas</a:t>
                </a:r>
                <a:endParaRPr lang="zh-TW" altLang="en-US" dirty="0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F596144-F468-451F-AA9B-AF6B22A506BB}"/>
                </a:ext>
              </a:extLst>
            </p:cNvPr>
            <p:cNvSpPr/>
            <p:nvPr/>
          </p:nvSpPr>
          <p:spPr>
            <a:xfrm>
              <a:off x="392598" y="4389943"/>
              <a:ext cx="198804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>
                  <a:latin typeface="Arial" panose="020B0604020202020204" pitchFamily="34" charset="0"/>
                </a:rPr>
                <a:t>(perfectly flat plane)</a:t>
              </a:r>
              <a:endParaRPr lang="zh-TW" altLang="en-US" sz="1600" dirty="0"/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58E9B94-89DF-47A6-9225-52542AC068BC}"/>
              </a:ext>
            </a:extLst>
          </p:cNvPr>
          <p:cNvSpPr txBox="1"/>
          <p:nvPr/>
        </p:nvSpPr>
        <p:spPr>
          <a:xfrm>
            <a:off x="611673" y="5486841"/>
            <a:ext cx="33507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All sites are equivalent.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 interactions.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8C00134-51E6-4B83-BDA3-C5C2C4BA126C}"/>
                  </a:ext>
                </a:extLst>
              </p:cNvPr>
              <p:cNvSpPr/>
              <p:nvPr/>
            </p:nvSpPr>
            <p:spPr>
              <a:xfrm>
                <a:off x="6450535" y="1763909"/>
                <a:ext cx="4903265" cy="720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surface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internal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ads</m:t>
                              </m:r>
                            </m:sub>
                          </m:sSub>
                        </m:sup>
                      </m:sSup>
                      <m:f>
                        <m:f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sz="2000">
                                  <a:latin typeface="Cambria Math" panose="02040503050406030204" pitchFamily="18" charset="0"/>
                                </a:rPr>
                                <m:t>ads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TW" sz="2000">
                                      <a:latin typeface="Cambria Math" panose="02040503050406030204" pitchFamily="18" charset="0"/>
                                    </a:rPr>
                                    <m:t>ads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58C00134-51E6-4B83-BDA3-C5C2C4BA12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35" y="1763909"/>
                <a:ext cx="4903265" cy="7204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04E34E3-2795-4A95-A589-2F158B9D1E88}"/>
                  </a:ext>
                </a:extLst>
              </p:cNvPr>
              <p:cNvSpPr txBox="1"/>
              <p:nvPr/>
            </p:nvSpPr>
            <p:spPr>
              <a:xfrm>
                <a:off x="6450535" y="4420438"/>
                <a:ext cx="2066925" cy="429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surface</m:t>
                          </m:r>
                        </m:sub>
                      </m:sSub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gas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D04E34E3-2795-4A95-A589-2F158B9D1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535" y="4420438"/>
                <a:ext cx="2066925" cy="429092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CD17A32-CDF7-4CAE-AB53-7EE5A42C3B6B}"/>
                  </a:ext>
                </a:extLst>
              </p:cNvPr>
              <p:cNvSpPr txBox="1"/>
              <p:nvPr/>
            </p:nvSpPr>
            <p:spPr>
              <a:xfrm>
                <a:off x="8539779" y="4008696"/>
                <a:ext cx="30956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𝑑𝑈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𝑇𝑑𝑆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𝑃𝑑𝑉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𝑑𝑁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CD17A32-CDF7-4CAE-AB53-7EE5A42C3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779" y="4008696"/>
                <a:ext cx="3095625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3">
            <a:extLst>
              <a:ext uri="{FF2B5EF4-FFF2-40B4-BE49-F238E27FC236}">
                <a16:creationId xmlns:a16="http://schemas.microsoft.com/office/drawing/2014/main" id="{FEDA9B1F-DF65-473C-B2E7-E764ADA17DBA}"/>
              </a:ext>
            </a:extLst>
          </p:cNvPr>
          <p:cNvGrpSpPr>
            <a:grpSpLocks noChangeAspect="1"/>
          </p:cNvGrpSpPr>
          <p:nvPr/>
        </p:nvGrpSpPr>
        <p:grpSpPr>
          <a:xfrm>
            <a:off x="6177257" y="2570554"/>
            <a:ext cx="2990850" cy="1008000"/>
            <a:chOff x="6177257" y="2665804"/>
            <a:chExt cx="2990850" cy="1008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33071211-C520-492F-92BB-2A45C3955599}"/>
                    </a:ext>
                  </a:extLst>
                </p:cNvPr>
                <p:cNvSpPr txBox="1"/>
                <p:nvPr/>
              </p:nvSpPr>
              <p:spPr>
                <a:xfrm>
                  <a:off x="6177257" y="2757815"/>
                  <a:ext cx="2990850" cy="7616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TW" sz="2000" b="0" i="0" smtClean="0">
                                <a:latin typeface="Cambria Math" panose="02040503050406030204" pitchFamily="18" charset="0"/>
                              </a:rPr>
                              <m:t>gas</m:t>
                            </m:r>
                          </m:sub>
                        </m:s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gas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gas</m:t>
                                </m:r>
                              </m:sub>
                            </m:sSub>
                          </m:sup>
                        </m:sSub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33071211-C520-492F-92BB-2A45C39555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7257" y="2757815"/>
                  <a:ext cx="2990850" cy="76161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8580B7A-6AB3-4809-BAA9-ABEC54980BB8}"/>
                </a:ext>
              </a:extLst>
            </p:cNvPr>
            <p:cNvSpPr/>
            <p:nvPr/>
          </p:nvSpPr>
          <p:spPr>
            <a:xfrm>
              <a:off x="6486525" y="2665804"/>
              <a:ext cx="2412000" cy="10080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0C760B57-12B6-42E7-9D77-F0B6F67CC908}"/>
              </a:ext>
            </a:extLst>
          </p:cNvPr>
          <p:cNvGrpSpPr/>
          <p:nvPr/>
        </p:nvGrpSpPr>
        <p:grpSpPr>
          <a:xfrm>
            <a:off x="6162675" y="4884137"/>
            <a:ext cx="6091237" cy="846445"/>
            <a:chOff x="6162675" y="4912712"/>
            <a:chExt cx="6091237" cy="846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7FBC1F72-32A2-4584-BB2A-205681BD41F0}"/>
                    </a:ext>
                  </a:extLst>
                </p:cNvPr>
                <p:cNvSpPr txBox="1"/>
                <p:nvPr/>
              </p:nvSpPr>
              <p:spPr>
                <a:xfrm>
                  <a:off x="8643937" y="4912712"/>
                  <a:ext cx="3609975" cy="7231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≡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TW" sz="2000" b="0" i="0" smtClean="0">
                                    <a:latin typeface="Cambria Math" panose="02040503050406030204" pitchFamily="18" charset="0"/>
                                  </a:rPr>
                                  <m:t>ads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7FBC1F72-32A2-4584-BB2A-205681BD41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3937" y="4912712"/>
                  <a:ext cx="3609975" cy="72314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57BA288-91AF-40FB-9A1A-C3813E6AD21A}"/>
                </a:ext>
              </a:extLst>
            </p:cNvPr>
            <p:cNvSpPr txBox="1"/>
            <p:nvPr/>
          </p:nvSpPr>
          <p:spPr>
            <a:xfrm>
              <a:off x="6162675" y="5051271"/>
              <a:ext cx="32435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900" dirty="0"/>
                <a:t>The fraction of the surface sites covered with adsorbates</a:t>
              </a:r>
              <a:r>
                <a:rPr lang="en-US" altLang="zh-TW" sz="2000" dirty="0"/>
                <a:t>.</a:t>
              </a:r>
              <a:endParaRPr lang="zh-TW" altLang="en-US" sz="2000" dirty="0"/>
            </a:p>
          </p:txBody>
        </p: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3782937-9BB9-4465-8491-79587EF3BB8A}"/>
              </a:ext>
            </a:extLst>
          </p:cNvPr>
          <p:cNvSpPr txBox="1"/>
          <p:nvPr/>
        </p:nvSpPr>
        <p:spPr>
          <a:xfrm>
            <a:off x="196196" y="6576852"/>
            <a:ext cx="30386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(Wikipedia/Langmuir adsorption model)</a:t>
            </a:r>
            <a:endParaRPr lang="zh-TW" altLang="en-US" sz="1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9E1A5564-2200-4AE5-AB07-656138507849}"/>
              </a:ext>
            </a:extLst>
          </p:cNvPr>
          <p:cNvSpPr txBox="1"/>
          <p:nvPr/>
        </p:nvSpPr>
        <p:spPr>
          <a:xfrm>
            <a:off x="5139045" y="5818620"/>
            <a:ext cx="6592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We should consider indistinguishability of ideal gas. If not, the physics will be wrong.</a:t>
            </a:r>
            <a:endParaRPr lang="zh-TW" altLang="en-US" sz="2400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4F0091-3578-41C8-8381-570290F2A348}"/>
              </a:ext>
            </a:extLst>
          </p:cNvPr>
          <p:cNvSpPr/>
          <p:nvPr/>
        </p:nvSpPr>
        <p:spPr>
          <a:xfrm>
            <a:off x="9054099" y="2997909"/>
            <a:ext cx="24817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Indistinguishable</a:t>
            </a:r>
            <a:endParaRPr lang="zh-TW" altLang="en-US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9079629-8717-4F59-A832-9DDC151947BC}"/>
                  </a:ext>
                </a:extLst>
              </p:cNvPr>
              <p:cNvSpPr txBox="1"/>
              <p:nvPr/>
            </p:nvSpPr>
            <p:spPr>
              <a:xfrm>
                <a:off x="6386512" y="3709071"/>
                <a:ext cx="2412000" cy="645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TW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func>
                                <m:funcPr>
                                  <m:ctrlP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sz="1600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altLang="zh-TW" sz="1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9079629-8717-4F59-A832-9DDC15194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512" y="3709071"/>
                <a:ext cx="2412000" cy="64556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630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558081-F760-4A27-8862-136DDDB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8800" dirty="0"/>
              <a:t>Demo</a:t>
            </a:r>
            <a:endParaRPr lang="zh-TW" altLang="en-US" sz="88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928A8C-49CD-45E9-ABDC-8347A7630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Langmuir adsorption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2183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558081-F760-4A27-8862-136DDDBC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8800" dirty="0"/>
              <a:t>Demo</a:t>
            </a:r>
            <a:endParaRPr lang="zh-TW" altLang="en-US" sz="88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928A8C-49CD-45E9-ABDC-8347A7630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Mixing entropy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239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637611-D38D-4F76-85F2-D67DB067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25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Gibbs entropy</a:t>
            </a:r>
            <a:endParaRPr lang="zh-TW" altLang="en-US" sz="360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BBD24949-4FCC-4660-A26D-E65731713E52}"/>
              </a:ext>
            </a:extLst>
          </p:cNvPr>
          <p:cNvGrpSpPr>
            <a:grpSpLocks noChangeAspect="1"/>
          </p:cNvGrpSpPr>
          <p:nvPr/>
        </p:nvGrpSpPr>
        <p:grpSpPr>
          <a:xfrm>
            <a:off x="3879536" y="246857"/>
            <a:ext cx="4162425" cy="2266950"/>
            <a:chOff x="4014787" y="1106488"/>
            <a:chExt cx="4162425" cy="2266950"/>
          </a:xfrm>
        </p:grpSpPr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ED52EAA7-4252-4F92-A480-950C3F4903C8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14787" y="1106488"/>
              <a:ext cx="4162425" cy="2266950"/>
              <a:chOff x="3848100" y="914400"/>
              <a:chExt cx="4133850" cy="25146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183B2DD0-756D-4443-9775-5733E7C8C812}"/>
                  </a:ext>
                </a:extLst>
              </p:cNvPr>
              <p:cNvSpPr/>
              <p:nvPr/>
            </p:nvSpPr>
            <p:spPr>
              <a:xfrm>
                <a:off x="3848100" y="914400"/>
                <a:ext cx="4133850" cy="25146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6" name="直線接點 5">
                <a:extLst>
                  <a:ext uri="{FF2B5EF4-FFF2-40B4-BE49-F238E27FC236}">
                    <a16:creationId xmlns:a16="http://schemas.microsoft.com/office/drawing/2014/main" id="{DBDF9978-806D-4997-B113-0F6E7DFD7AE7}"/>
                  </a:ext>
                </a:extLst>
              </p:cNvPr>
              <p:cNvCxnSpPr>
                <a:stCxn id="4" idx="0"/>
                <a:endCxn id="4" idx="2"/>
              </p:cNvCxnSpPr>
              <p:nvPr/>
            </p:nvCxnSpPr>
            <p:spPr>
              <a:xfrm>
                <a:off x="5915025" y="914400"/>
                <a:ext cx="0" cy="2514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B6F38D5D-D0DF-45D6-A97C-6E930C9EE5ED}"/>
                    </a:ext>
                  </a:extLst>
                </p:cNvPr>
                <p:cNvSpPr txBox="1"/>
                <p:nvPr/>
              </p:nvSpPr>
              <p:spPr>
                <a:xfrm>
                  <a:off x="4506068" y="1216025"/>
                  <a:ext cx="127634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B6F38D5D-D0DF-45D6-A97C-6E930C9EE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6068" y="1216025"/>
                  <a:ext cx="1276341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A04AE1C9-B153-41CB-B7DB-EFFF5B7EA3B2}"/>
                    </a:ext>
                  </a:extLst>
                </p:cNvPr>
                <p:cNvSpPr txBox="1"/>
                <p:nvPr/>
              </p:nvSpPr>
              <p:spPr>
                <a:xfrm>
                  <a:off x="6554170" y="1216025"/>
                  <a:ext cx="127634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oMath>
                    </m:oMathPara>
                  </a14:m>
                  <a:endParaRPr lang="zh-TW" altLang="en-US" sz="28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A04AE1C9-B153-41CB-B7DB-EFFF5B7EA3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4170" y="1216025"/>
                  <a:ext cx="127634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43F07B46-E1BA-4732-B7B8-6F5E1AEC2C5A}"/>
                </a:ext>
              </a:extLst>
            </p:cNvPr>
            <p:cNvSpPr/>
            <p:nvPr/>
          </p:nvSpPr>
          <p:spPr>
            <a:xfrm>
              <a:off x="4377220" y="2169500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31402A87-A713-4E45-AF69-DB7CCB55913B}"/>
                </a:ext>
              </a:extLst>
            </p:cNvPr>
            <p:cNvSpPr/>
            <p:nvPr/>
          </p:nvSpPr>
          <p:spPr>
            <a:xfrm>
              <a:off x="4964239" y="2239963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0984BE92-42A3-49D5-87F2-F1C94ED75149}"/>
                </a:ext>
              </a:extLst>
            </p:cNvPr>
            <p:cNvSpPr/>
            <p:nvPr/>
          </p:nvSpPr>
          <p:spPr>
            <a:xfrm>
              <a:off x="4557220" y="26814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75A25B8C-B029-4169-84D5-B2DDC9BF46BE}"/>
                </a:ext>
              </a:extLst>
            </p:cNvPr>
            <p:cNvSpPr/>
            <p:nvPr/>
          </p:nvSpPr>
          <p:spPr>
            <a:xfrm>
              <a:off x="5328981" y="2907966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D6DDEF63-B8CC-46BE-8D95-17EF42104969}"/>
                </a:ext>
              </a:extLst>
            </p:cNvPr>
            <p:cNvSpPr/>
            <p:nvPr/>
          </p:nvSpPr>
          <p:spPr>
            <a:xfrm>
              <a:off x="5634047" y="199454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4A7DEE6F-6AE2-4535-A01C-C13DEB9A5C90}"/>
                </a:ext>
              </a:extLst>
            </p:cNvPr>
            <p:cNvSpPr/>
            <p:nvPr/>
          </p:nvSpPr>
          <p:spPr>
            <a:xfrm>
              <a:off x="4347850" y="1616675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4FEA3285-6286-4B2E-B4F2-BAFF747536BB}"/>
                </a:ext>
              </a:extLst>
            </p:cNvPr>
            <p:cNvSpPr/>
            <p:nvPr/>
          </p:nvSpPr>
          <p:spPr>
            <a:xfrm>
              <a:off x="6638433" y="2169500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1FC3A93-9E29-4252-869D-7ED1BAB6CDCA}"/>
                </a:ext>
              </a:extLst>
            </p:cNvPr>
            <p:cNvSpPr/>
            <p:nvPr/>
          </p:nvSpPr>
          <p:spPr>
            <a:xfrm>
              <a:off x="7574151" y="1989500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E123CA1B-EEF2-43C1-8390-743C3C5EF3BC}"/>
                </a:ext>
              </a:extLst>
            </p:cNvPr>
            <p:cNvSpPr/>
            <p:nvPr/>
          </p:nvSpPr>
          <p:spPr>
            <a:xfrm>
              <a:off x="6565076" y="2681469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403F0FAF-5776-4A93-8A94-7A77A6CF194C}"/>
                </a:ext>
              </a:extLst>
            </p:cNvPr>
            <p:cNvSpPr/>
            <p:nvPr/>
          </p:nvSpPr>
          <p:spPr>
            <a:xfrm>
              <a:off x="6374170" y="166718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72309268-6840-4649-9E6D-0511A169091A}"/>
                </a:ext>
              </a:extLst>
            </p:cNvPr>
            <p:cNvSpPr/>
            <p:nvPr/>
          </p:nvSpPr>
          <p:spPr>
            <a:xfrm>
              <a:off x="7274781" y="2466341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38DFC783-8D5E-4CCD-8878-D2CE3F710BD4}"/>
                </a:ext>
              </a:extLst>
            </p:cNvPr>
            <p:cNvSpPr/>
            <p:nvPr/>
          </p:nvSpPr>
          <p:spPr>
            <a:xfrm>
              <a:off x="7454781" y="299796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39178742-DF78-4E62-A52A-4B75F87438BE}"/>
              </a:ext>
            </a:extLst>
          </p:cNvPr>
          <p:cNvGrpSpPr>
            <a:grpSpLocks noChangeAspect="1"/>
          </p:cNvGrpSpPr>
          <p:nvPr/>
        </p:nvGrpSpPr>
        <p:grpSpPr>
          <a:xfrm>
            <a:off x="3879536" y="2845776"/>
            <a:ext cx="4162425" cy="2266950"/>
            <a:chOff x="4014787" y="1106488"/>
            <a:chExt cx="4162425" cy="2266950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18AE4C91-971A-4787-B877-84D63577CE0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014787" y="1106488"/>
              <a:ext cx="4162425" cy="2266950"/>
              <a:chOff x="3848100" y="914400"/>
              <a:chExt cx="4133850" cy="2514600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DC161E40-973C-443F-A370-6721C5828084}"/>
                  </a:ext>
                </a:extLst>
              </p:cNvPr>
              <p:cNvSpPr/>
              <p:nvPr/>
            </p:nvSpPr>
            <p:spPr>
              <a:xfrm>
                <a:off x="3848100" y="914400"/>
                <a:ext cx="4133850" cy="25146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F952DBC9-CFE5-40E0-B99C-CD2E07A5DB4C}"/>
                  </a:ext>
                </a:extLst>
              </p:cNvPr>
              <p:cNvCxnSpPr>
                <a:stCxn id="39" idx="0"/>
                <a:endCxn id="39" idx="2"/>
              </p:cNvCxnSpPr>
              <p:nvPr/>
            </p:nvCxnSpPr>
            <p:spPr>
              <a:xfrm>
                <a:off x="5915025" y="914400"/>
                <a:ext cx="0" cy="2514600"/>
              </a:xfrm>
              <a:prstGeom prst="line">
                <a:avLst/>
              </a:prstGeom>
              <a:ln w="28575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930C2C5-1B39-482C-8303-681D3EDC23C7}"/>
                    </a:ext>
                  </a:extLst>
                </p:cNvPr>
                <p:cNvSpPr txBox="1"/>
                <p:nvPr/>
              </p:nvSpPr>
              <p:spPr>
                <a:xfrm>
                  <a:off x="4437850" y="1125352"/>
                  <a:ext cx="1626242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E930C2C5-1B39-482C-8303-681D3EDC23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7850" y="1125352"/>
                  <a:ext cx="1626242" cy="4778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347758C4-1D24-4DC8-AE9B-BEF68DAF2912}"/>
                    </a:ext>
                  </a:extLst>
                </p:cNvPr>
                <p:cNvSpPr txBox="1"/>
                <p:nvPr/>
              </p:nvSpPr>
              <p:spPr>
                <a:xfrm>
                  <a:off x="6487155" y="1130087"/>
                  <a:ext cx="1464920" cy="477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zh-TW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zh-TW" altLang="en-US" sz="24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347758C4-1D24-4DC8-AE9B-BEF68DAF29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7155" y="1130087"/>
                  <a:ext cx="1464920" cy="47788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D64E60E3-9E64-40CE-95C9-AE22137E6C4A}"/>
                </a:ext>
              </a:extLst>
            </p:cNvPr>
            <p:cNvSpPr/>
            <p:nvPr/>
          </p:nvSpPr>
          <p:spPr>
            <a:xfrm>
              <a:off x="6956606" y="2907966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839E5253-A429-4458-BF68-0E5DC06AE143}"/>
                </a:ext>
              </a:extLst>
            </p:cNvPr>
            <p:cNvSpPr/>
            <p:nvPr/>
          </p:nvSpPr>
          <p:spPr>
            <a:xfrm>
              <a:off x="5020502" y="2117422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2DB89F3-C1D6-47D9-99DB-0D10A61D9429}"/>
                </a:ext>
              </a:extLst>
            </p:cNvPr>
            <p:cNvSpPr/>
            <p:nvPr/>
          </p:nvSpPr>
          <p:spPr>
            <a:xfrm>
              <a:off x="4557220" y="26814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BBE195E4-F1A8-4452-88B9-A94AD75EF100}"/>
                </a:ext>
              </a:extLst>
            </p:cNvPr>
            <p:cNvSpPr/>
            <p:nvPr/>
          </p:nvSpPr>
          <p:spPr>
            <a:xfrm>
              <a:off x="6184614" y="2853867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CFE5ABE5-2756-4822-AF5A-574E6899506D}"/>
                </a:ext>
              </a:extLst>
            </p:cNvPr>
            <p:cNvSpPr/>
            <p:nvPr/>
          </p:nvSpPr>
          <p:spPr>
            <a:xfrm>
              <a:off x="6198172" y="1652793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BD614503-A7C7-4A37-916F-B46F577C0A34}"/>
                </a:ext>
              </a:extLst>
            </p:cNvPr>
            <p:cNvSpPr/>
            <p:nvPr/>
          </p:nvSpPr>
          <p:spPr>
            <a:xfrm>
              <a:off x="4347850" y="1742793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D45C3083-A89E-4736-98A8-660DF0B9CDEA}"/>
                </a:ext>
              </a:extLst>
            </p:cNvPr>
            <p:cNvSpPr/>
            <p:nvPr/>
          </p:nvSpPr>
          <p:spPr>
            <a:xfrm>
              <a:off x="5789892" y="214996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FC275A30-B720-47EE-9644-28375E2D8270}"/>
                </a:ext>
              </a:extLst>
            </p:cNvPr>
            <p:cNvSpPr/>
            <p:nvPr/>
          </p:nvSpPr>
          <p:spPr>
            <a:xfrm>
              <a:off x="7729568" y="2059963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55FF3750-903F-4F15-A3CE-A9B2B6127DDD}"/>
                </a:ext>
              </a:extLst>
            </p:cNvPr>
            <p:cNvSpPr/>
            <p:nvPr/>
          </p:nvSpPr>
          <p:spPr>
            <a:xfrm>
              <a:off x="6565076" y="2681469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DA523C64-1BAE-40F5-9EB2-0DE097991600}"/>
                </a:ext>
              </a:extLst>
            </p:cNvPr>
            <p:cNvSpPr/>
            <p:nvPr/>
          </p:nvSpPr>
          <p:spPr>
            <a:xfrm>
              <a:off x="6633227" y="198123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57EFB4DE-FC69-46E7-878E-256E6E0C30CC}"/>
                </a:ext>
              </a:extLst>
            </p:cNvPr>
            <p:cNvSpPr/>
            <p:nvPr/>
          </p:nvSpPr>
          <p:spPr>
            <a:xfrm>
              <a:off x="7274781" y="2466341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橢圓 37">
              <a:extLst>
                <a:ext uri="{FF2B5EF4-FFF2-40B4-BE49-F238E27FC236}">
                  <a16:creationId xmlns:a16="http://schemas.microsoft.com/office/drawing/2014/main" id="{87C7B9E1-537B-49CF-873F-52A80D5ED046}"/>
                </a:ext>
              </a:extLst>
            </p:cNvPr>
            <p:cNvSpPr/>
            <p:nvPr/>
          </p:nvSpPr>
          <p:spPr>
            <a:xfrm>
              <a:off x="5313883" y="2771469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5627D233-665D-478A-9A6A-71419FA98A6B}"/>
              </a:ext>
            </a:extLst>
          </p:cNvPr>
          <p:cNvSpPr txBox="1"/>
          <p:nvPr/>
        </p:nvSpPr>
        <p:spPr>
          <a:xfrm>
            <a:off x="2659876" y="3669693"/>
            <a:ext cx="87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open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CBD044A-C411-47D4-8CBE-C1299CBAF0E5}"/>
                  </a:ext>
                </a:extLst>
              </p:cNvPr>
              <p:cNvSpPr txBox="1"/>
              <p:nvPr/>
            </p:nvSpPr>
            <p:spPr>
              <a:xfrm>
                <a:off x="8719379" y="2692195"/>
                <a:ext cx="2443023" cy="1055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TW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TW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US" altLang="zh-TW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US" altLang="zh-TW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CBD044A-C411-47D4-8CBE-C1299CBAF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9379" y="2692195"/>
                <a:ext cx="2443023" cy="10559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9E6B11AA-BE5B-4525-BAB7-23FFBBA3EC6B}"/>
              </a:ext>
            </a:extLst>
          </p:cNvPr>
          <p:cNvGrpSpPr>
            <a:grpSpLocks noChangeAspect="1"/>
          </p:cNvGrpSpPr>
          <p:nvPr/>
        </p:nvGrpSpPr>
        <p:grpSpPr>
          <a:xfrm>
            <a:off x="8039679" y="3857204"/>
            <a:ext cx="4006576" cy="1267934"/>
            <a:chOff x="8039679" y="4009604"/>
            <a:chExt cx="4006576" cy="12679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9D74A346-4B21-43AC-B920-423858BAFD71}"/>
                    </a:ext>
                  </a:extLst>
                </p:cNvPr>
                <p:cNvSpPr txBox="1"/>
                <p:nvPr/>
              </p:nvSpPr>
              <p:spPr>
                <a:xfrm>
                  <a:off x="8039679" y="4009605"/>
                  <a:ext cx="1777387" cy="6120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</m:oMath>
                    </m:oMathPara>
                  </a14:m>
                  <a:endParaRPr lang="zh-TW" alt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9D74A346-4B21-43AC-B920-423858BAFD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679" y="4009605"/>
                  <a:ext cx="1777387" cy="61202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26D3700-70C8-4828-9EB4-73C753B2F526}"/>
                    </a:ext>
                  </a:extLst>
                </p:cNvPr>
                <p:cNvSpPr txBox="1"/>
                <p:nvPr/>
              </p:nvSpPr>
              <p:spPr>
                <a:xfrm>
                  <a:off x="8039679" y="4665511"/>
                  <a:ext cx="1777387" cy="6120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</m:oMath>
                    </m:oMathPara>
                  </a14:m>
                  <a:endParaRPr lang="zh-TW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D26D3700-70C8-4828-9EB4-73C753B2F5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9679" y="4665511"/>
                  <a:ext cx="1777387" cy="61202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959F73AA-E0E2-49F7-852E-3B0FBEC7A654}"/>
                    </a:ext>
                  </a:extLst>
                </p:cNvPr>
                <p:cNvSpPr/>
                <p:nvPr/>
              </p:nvSpPr>
              <p:spPr>
                <a:xfrm>
                  <a:off x="9610523" y="4009604"/>
                  <a:ext cx="2429576" cy="61202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矩形 47">
                  <a:extLst>
                    <a:ext uri="{FF2B5EF4-FFF2-40B4-BE49-F238E27FC236}">
                      <a16:creationId xmlns:a16="http://schemas.microsoft.com/office/drawing/2014/main" id="{959F73AA-E0E2-49F7-852E-3B0FBEC7A6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0523" y="4009604"/>
                  <a:ext cx="2429576" cy="61202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FBDE80BF-85CD-434E-9941-62BA0CC80F3A}"/>
                    </a:ext>
                  </a:extLst>
                </p:cNvPr>
                <p:cNvSpPr/>
                <p:nvPr/>
              </p:nvSpPr>
              <p:spPr>
                <a:xfrm>
                  <a:off x="9610524" y="4665511"/>
                  <a:ext cx="2435731" cy="61202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altLang="zh-TW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den>
                        </m:f>
                        <m:r>
                          <a:rPr lang="en-US" altLang="zh-TW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=1−</m:t>
                        </m:r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FBDE80BF-85CD-434E-9941-62BA0CC80F3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0524" y="4665511"/>
                  <a:ext cx="2435731" cy="61202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94229B5-4245-4165-A6C7-B8D2102E6500}"/>
                  </a:ext>
                </a:extLst>
              </p:cNvPr>
              <p:cNvSpPr txBox="1"/>
              <p:nvPr/>
            </p:nvSpPr>
            <p:spPr>
              <a:xfrm>
                <a:off x="429761" y="1077926"/>
                <a:ext cx="2757410" cy="775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E94229B5-4245-4165-A6C7-B8D2102E6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61" y="1077926"/>
                <a:ext cx="2757410" cy="7750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0F835140-C220-4FA6-8DE7-30B6614AED75}"/>
              </a:ext>
            </a:extLst>
          </p:cNvPr>
          <p:cNvCxnSpPr>
            <a:cxnSpLocks/>
          </p:cNvCxnSpPr>
          <p:nvPr/>
        </p:nvCxnSpPr>
        <p:spPr>
          <a:xfrm>
            <a:off x="0" y="2128810"/>
            <a:ext cx="3492000" cy="0"/>
          </a:xfrm>
          <a:prstGeom prst="line">
            <a:avLst/>
          </a:prstGeom>
          <a:ln w="762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E1685051-C3BD-406D-8075-2AE0471631F3}"/>
              </a:ext>
            </a:extLst>
          </p:cNvPr>
          <p:cNvCxnSpPr>
            <a:cxnSpLocks/>
          </p:cNvCxnSpPr>
          <p:nvPr/>
        </p:nvCxnSpPr>
        <p:spPr>
          <a:xfrm>
            <a:off x="3473160" y="-180001"/>
            <a:ext cx="0" cy="2340000"/>
          </a:xfrm>
          <a:prstGeom prst="line">
            <a:avLst/>
          </a:prstGeom>
          <a:ln w="762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480CC3B6-B534-4D45-AA32-EBACF4006CFC}"/>
              </a:ext>
            </a:extLst>
          </p:cNvPr>
          <p:cNvCxnSpPr>
            <a:cxnSpLocks/>
          </p:cNvCxnSpPr>
          <p:nvPr/>
        </p:nvCxnSpPr>
        <p:spPr>
          <a:xfrm>
            <a:off x="-18840" y="109510"/>
            <a:ext cx="3492000" cy="0"/>
          </a:xfrm>
          <a:prstGeom prst="line">
            <a:avLst/>
          </a:prstGeom>
          <a:ln w="762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575C808B-95F0-45CD-B600-B47C9D502D7F}"/>
              </a:ext>
            </a:extLst>
          </p:cNvPr>
          <p:cNvSpPr/>
          <p:nvPr/>
        </p:nvSpPr>
        <p:spPr>
          <a:xfrm>
            <a:off x="0" y="0"/>
            <a:ext cx="390516" cy="20976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D96FF34-019F-4AC2-B8D2-243E4D46D2CC}"/>
              </a:ext>
            </a:extLst>
          </p:cNvPr>
          <p:cNvSpPr/>
          <p:nvPr/>
        </p:nvSpPr>
        <p:spPr>
          <a:xfrm>
            <a:off x="3243188" y="-18770"/>
            <a:ext cx="224761" cy="215710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8AC36AC-7AE4-45A5-8C2D-09D3C5439BDB}"/>
              </a:ext>
            </a:extLst>
          </p:cNvPr>
          <p:cNvSpPr/>
          <p:nvPr/>
        </p:nvSpPr>
        <p:spPr>
          <a:xfrm>
            <a:off x="133316" y="0"/>
            <a:ext cx="3238533" cy="1095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4692D44-1B4F-4029-BDF8-146DC413575B}"/>
              </a:ext>
            </a:extLst>
          </p:cNvPr>
          <p:cNvSpPr/>
          <p:nvPr/>
        </p:nvSpPr>
        <p:spPr>
          <a:xfrm>
            <a:off x="85443" y="1978835"/>
            <a:ext cx="3238533" cy="1095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0766DB4-5AEF-4A1A-BBB9-689D73F79F36}"/>
                  </a:ext>
                </a:extLst>
              </p:cNvPr>
              <p:cNvSpPr txBox="1"/>
              <p:nvPr/>
            </p:nvSpPr>
            <p:spPr>
              <a:xfrm>
                <a:off x="908671" y="5714675"/>
                <a:ext cx="10641384" cy="512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sSubSup>
                        <m:sSub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inst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bSup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sSub>
                        <m:sSub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2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0766DB4-5AEF-4A1A-BBB9-689D73F79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671" y="5714675"/>
                <a:ext cx="10641384" cy="51283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884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61662D-8256-456F-9F55-8682744E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Interaction example in the Demo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AE82387-8C83-48CF-9BD2-018FE3C60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729161"/>
              </a:xfrm>
            </p:spPr>
            <p:txBody>
              <a:bodyPr/>
              <a:lstStyle/>
              <a:p>
                <a:r>
                  <a:rPr lang="en-US" altLang="zh-TW" sz="2400" dirty="0"/>
                  <a:t>Magnetic microbeads immersed in the Stokes fluid.</a:t>
                </a:r>
              </a:p>
              <a:p>
                <a:r>
                  <a:rPr lang="en-US" altLang="zh-TW" sz="2400" dirty="0"/>
                  <a:t>With the same strength of magnetic dipole moment.</a:t>
                </a:r>
              </a:p>
              <a:p>
                <a:r>
                  <a:rPr lang="en-US" altLang="zh-TW" sz="2400" dirty="0"/>
                  <a:t>Short-range interaction.</a:t>
                </a:r>
              </a:p>
              <a:p>
                <a:endParaRPr lang="en-US" altLang="zh-TW" sz="1600" dirty="0"/>
              </a:p>
              <a:p>
                <a:r>
                  <a:rPr lang="en-US" altLang="zh-TW" sz="2400" dirty="0"/>
                  <a:t>Overdamped condition.</a:t>
                </a:r>
              </a:p>
              <a:p>
                <a:pPr lvl="1"/>
                <a:r>
                  <a:rPr lang="en-US" altLang="zh-TW" sz="2200" dirty="0"/>
                  <a:t>Stokes fluid: viscous force larger than the inertial force.</a:t>
                </a:r>
              </a:p>
              <a:p>
                <a:r>
                  <a:rPr lang="en-US" altLang="zh-TW" sz="2400" dirty="0"/>
                  <a:t>Brownian kick from the environment.</a:t>
                </a:r>
              </a:p>
              <a:p>
                <a:pPr lvl="1"/>
                <a:r>
                  <a:rPr lang="en-US" altLang="zh-TW" sz="2200" dirty="0"/>
                  <a:t>Serves as a heat bath. Fix the temperature  </a:t>
                </a:r>
                <a14:m>
                  <m:oMath xmlns:m="http://schemas.openxmlformats.org/officeDocument/2006/math">
                    <m:r>
                      <a:rPr lang="en-US" altLang="zh-TW" sz="2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TW" sz="2200" dirty="0"/>
                  <a:t>.</a:t>
                </a:r>
              </a:p>
              <a:p>
                <a:endParaRPr lang="en-US" altLang="zh-TW" sz="1600" dirty="0"/>
              </a:p>
              <a:p>
                <a:r>
                  <a:rPr lang="en-US" altLang="zh-TW" sz="2400" dirty="0"/>
                  <a:t>Steric repulsion 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AE82387-8C83-48CF-9BD2-018FE3C60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729161"/>
              </a:xfrm>
              <a:blipFill>
                <a:blip r:embed="rId2"/>
                <a:stretch>
                  <a:fillRect l="-812" t="-1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75AAC3E-4559-4644-9C2A-A1A80D3040F2}"/>
                  </a:ext>
                </a:extLst>
              </p:cNvPr>
              <p:cNvSpPr txBox="1"/>
              <p:nvPr/>
            </p:nvSpPr>
            <p:spPr>
              <a:xfrm>
                <a:off x="2800350" y="5829232"/>
                <a:ext cx="3448050" cy="710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steric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∞  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0    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≥2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75AAC3E-4559-4644-9C2A-A1A80D304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50" y="5829232"/>
                <a:ext cx="3448050" cy="710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94A10C25-132F-497C-97F5-3BE40A15D541}"/>
              </a:ext>
            </a:extLst>
          </p:cNvPr>
          <p:cNvSpPr txBox="1"/>
          <p:nvPr/>
        </p:nvSpPr>
        <p:spPr>
          <a:xfrm>
            <a:off x="3200400" y="542180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(the same as in ideal gas case.)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D539092-4557-481A-A8B9-7E3263887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13" y="1422319"/>
            <a:ext cx="3359323" cy="318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18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F88C2E-58B1-46B7-8274-B421C3DD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Magnetic dipole interaction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48A0095-6D89-4F43-8D11-971C21EEA0D7}"/>
                  </a:ext>
                </a:extLst>
              </p:cNvPr>
              <p:cNvSpPr txBox="1"/>
              <p:nvPr/>
            </p:nvSpPr>
            <p:spPr>
              <a:xfrm>
                <a:off x="1185862" y="1690688"/>
                <a:ext cx="602456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For two magnetic dipoles wit magnetic moments separated by a displacement vector </a:t>
                </a: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𝐫</m:t>
                    </m:r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0" smtClean="0">
                            <a:latin typeface="Cambria Math" panose="02040503050406030204" pitchFamily="18" charset="0"/>
                          </a:rPr>
                          <m:t>𝐫</m:t>
                        </m:r>
                      </m:e>
                      <m: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48A0095-6D89-4F43-8D11-971C21EEA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62" y="1690688"/>
                <a:ext cx="6024563" cy="646331"/>
              </a:xfrm>
              <a:prstGeom prst="rect">
                <a:avLst/>
              </a:prstGeom>
              <a:blipFill>
                <a:blip r:embed="rId2"/>
                <a:stretch>
                  <a:fillRect l="-911" t="-4717" r="-810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CDF4B94-F273-43EF-BBD3-044FE6FAC346}"/>
                  </a:ext>
                </a:extLst>
              </p:cNvPr>
              <p:cNvSpPr txBox="1"/>
              <p:nvPr/>
            </p:nvSpPr>
            <p:spPr>
              <a:xfrm>
                <a:off x="3128961" y="2604743"/>
                <a:ext cx="5600700" cy="56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dip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 i="0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 i="0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CDF4B94-F273-43EF-BBD3-044FE6FAC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961" y="2604743"/>
                <a:ext cx="5600700" cy="5648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31A8938-EEB3-41D4-8454-52EA276583A6}"/>
                  </a:ext>
                </a:extLst>
              </p:cNvPr>
              <p:cNvSpPr txBox="1"/>
              <p:nvPr/>
            </p:nvSpPr>
            <p:spPr>
              <a:xfrm>
                <a:off x="3128961" y="4544303"/>
                <a:ext cx="6181725" cy="673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dip</m:t>
                          </m:r>
                        </m:sub>
                      </m:sSub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 ∝ 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31A8938-EEB3-41D4-8454-52EA27658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961" y="4544303"/>
                <a:ext cx="6181725" cy="673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7A7D5BF-2EF2-4B2F-98AE-571DE42E9A89}"/>
                  </a:ext>
                </a:extLst>
              </p:cNvPr>
              <p:cNvSpPr txBox="1"/>
              <p:nvPr/>
            </p:nvSpPr>
            <p:spPr>
              <a:xfrm>
                <a:off x="1185861" y="3524250"/>
                <a:ext cx="8958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Magnetic dipole moment  </a:t>
                </a: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𝐧</m:t>
                        </m:r>
                      </m:e>
                    </m:acc>
                  </m:oMath>
                </a14:m>
                <a:r>
                  <a:rPr lang="en-US" altLang="zh-TW" dirty="0"/>
                  <a:t>.   </a:t>
                </a:r>
              </a:p>
              <a:p>
                <a:r>
                  <a:rPr lang="en-US" altLang="zh-TW" dirty="0"/>
                  <a:t>In 2D coordinate,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>
                            <a:latin typeface="Cambria Math" panose="02040503050406030204" pitchFamily="18" charset="0"/>
                          </a:rPr>
                          <m:t>𝐦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 with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/>
                  <a:t>  </a:t>
                </a:r>
                <a:r>
                  <a:rPr lang="en-US" altLang="zh-TW" dirty="0"/>
                  <a:t>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/>
                  <a:t>  </a:t>
                </a:r>
                <a:r>
                  <a:rPr lang="en-US" altLang="zh-TW" dirty="0"/>
                  <a:t>relative to the displacement vector </a:t>
                </a:r>
                <a14:m>
                  <m:oMath xmlns:m="http://schemas.openxmlformats.org/officeDocument/2006/math">
                    <m:r>
                      <a:rPr lang="en-US" altLang="zh-TW" b="1" i="0" smtClean="0"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en-US" altLang="zh-TW" dirty="0"/>
                  <a:t>.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7A7D5BF-2EF2-4B2F-98AE-571DE42E9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61" y="3524250"/>
                <a:ext cx="8958264" cy="646331"/>
              </a:xfrm>
              <a:prstGeom prst="rect">
                <a:avLst/>
              </a:prstGeom>
              <a:blipFill>
                <a:blip r:embed="rId5"/>
                <a:stretch>
                  <a:fillRect l="-613" t="-4717" b="-14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93291A59-5F75-4734-9EE9-D4C194177AF4}"/>
              </a:ext>
            </a:extLst>
          </p:cNvPr>
          <p:cNvGrpSpPr>
            <a:grpSpLocks noChangeAspect="1"/>
          </p:cNvGrpSpPr>
          <p:nvPr/>
        </p:nvGrpSpPr>
        <p:grpSpPr>
          <a:xfrm>
            <a:off x="7926205" y="311446"/>
            <a:ext cx="2496526" cy="1350444"/>
            <a:chOff x="7926205" y="311446"/>
            <a:chExt cx="2496526" cy="1350444"/>
          </a:xfrm>
        </p:grpSpPr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8513FD2E-8E21-4F33-8D5A-E6899F1E68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4977" y="428625"/>
              <a:ext cx="311348" cy="911558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40036214-CD3F-4FC8-BBEA-A3401171AD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2150" y="352425"/>
              <a:ext cx="575072" cy="80010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061E5B34-D9BB-4C6D-BBD4-A8205F27A99A}"/>
                </a:ext>
              </a:extLst>
            </p:cNvPr>
            <p:cNvCxnSpPr/>
            <p:nvPr/>
          </p:nvCxnSpPr>
          <p:spPr>
            <a:xfrm flipV="1">
              <a:off x="8429625" y="742950"/>
              <a:ext cx="161925" cy="466725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9DCE55B7-A241-4D84-BEC1-9317CAA31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5975" y="571500"/>
              <a:ext cx="304800" cy="40481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534FD56D-849B-4836-B75F-5767978C1CC4}"/>
                </a:ext>
              </a:extLst>
            </p:cNvPr>
            <p:cNvCxnSpPr/>
            <p:nvPr/>
          </p:nvCxnSpPr>
          <p:spPr>
            <a:xfrm flipV="1">
              <a:off x="8501062" y="809625"/>
              <a:ext cx="1314450" cy="21828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E4914131-9BE8-446B-80D0-08B1B8433456}"/>
                </a:ext>
              </a:extLst>
            </p:cNvPr>
            <p:cNvCxnSpPr>
              <a:cxnSpLocks/>
            </p:cNvCxnSpPr>
            <p:nvPr/>
          </p:nvCxnSpPr>
          <p:spPr>
            <a:xfrm rot="-240000" flipV="1">
              <a:off x="9815512" y="723900"/>
              <a:ext cx="607219" cy="666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619E2C4-93B0-40BC-AD9C-52B01ADD72D4}"/>
                    </a:ext>
                  </a:extLst>
                </p:cNvPr>
                <p:cNvSpPr txBox="1"/>
                <p:nvPr/>
              </p:nvSpPr>
              <p:spPr>
                <a:xfrm>
                  <a:off x="9768632" y="1170530"/>
                  <a:ext cx="2744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9619E2C4-93B0-40BC-AD9C-52B01ADD7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632" y="1170530"/>
                  <a:ext cx="274439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039F6D9-BA18-4770-8125-3A1B7EA1E3D3}"/>
                    </a:ext>
                  </a:extLst>
                </p:cNvPr>
                <p:cNvSpPr txBox="1"/>
                <p:nvPr/>
              </p:nvSpPr>
              <p:spPr>
                <a:xfrm>
                  <a:off x="8444805" y="1292558"/>
                  <a:ext cx="2744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1039F6D9-BA18-4770-8125-3A1B7EA1E3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4805" y="1292558"/>
                  <a:ext cx="274439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2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D480B2F9-E300-48E1-BA7C-E055BFA01572}"/>
                    </a:ext>
                  </a:extLst>
                </p:cNvPr>
                <p:cNvSpPr txBox="1"/>
                <p:nvPr/>
              </p:nvSpPr>
              <p:spPr>
                <a:xfrm>
                  <a:off x="9051130" y="865264"/>
                  <a:ext cx="3516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D480B2F9-E300-48E1-BA7C-E055BFA015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1130" y="865264"/>
                  <a:ext cx="35163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弧形 28">
              <a:extLst>
                <a:ext uri="{FF2B5EF4-FFF2-40B4-BE49-F238E27FC236}">
                  <a16:creationId xmlns:a16="http://schemas.microsoft.com/office/drawing/2014/main" id="{FEAF974B-7C5B-4DDD-88F2-70A0770C65B8}"/>
                </a:ext>
              </a:extLst>
            </p:cNvPr>
            <p:cNvSpPr/>
            <p:nvPr/>
          </p:nvSpPr>
          <p:spPr>
            <a:xfrm>
              <a:off x="8404027" y="734502"/>
              <a:ext cx="434185" cy="459896"/>
            </a:xfrm>
            <a:prstGeom prst="arc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C00000"/>
                </a:solidFill>
              </a:endParaRPr>
            </a:p>
          </p:txBody>
        </p:sp>
        <p:sp>
          <p:nvSpPr>
            <p:cNvPr id="30" name="弧形 29">
              <a:extLst>
                <a:ext uri="{FF2B5EF4-FFF2-40B4-BE49-F238E27FC236}">
                  <a16:creationId xmlns:a16="http://schemas.microsoft.com/office/drawing/2014/main" id="{D5C7FBA8-0CA0-4E0F-A131-F613C3DA4FBE}"/>
                </a:ext>
              </a:extLst>
            </p:cNvPr>
            <p:cNvSpPr/>
            <p:nvPr/>
          </p:nvSpPr>
          <p:spPr>
            <a:xfrm>
              <a:off x="9573717" y="539196"/>
              <a:ext cx="610391" cy="530238"/>
            </a:xfrm>
            <a:prstGeom prst="arc">
              <a:avLst>
                <a:gd name="adj1" fmla="val 18177185"/>
                <a:gd name="adj2" fmla="val 20873896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E9DEFCB0-8A93-4FD5-AC99-1BD6DE9E60E9}"/>
                    </a:ext>
                  </a:extLst>
                </p:cNvPr>
                <p:cNvSpPr txBox="1"/>
                <p:nvPr/>
              </p:nvSpPr>
              <p:spPr>
                <a:xfrm>
                  <a:off x="8666554" y="476576"/>
                  <a:ext cx="2051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字方塊 30">
                  <a:extLst>
                    <a:ext uri="{FF2B5EF4-FFF2-40B4-BE49-F238E27FC236}">
                      <a16:creationId xmlns:a16="http://schemas.microsoft.com/office/drawing/2014/main" id="{E9DEFCB0-8A93-4FD5-AC99-1BD6DE9E60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6554" y="476576"/>
                  <a:ext cx="205190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7878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BE0BE902-A568-44FF-944A-D0777630D484}"/>
                    </a:ext>
                  </a:extLst>
                </p:cNvPr>
                <p:cNvSpPr txBox="1"/>
                <p:nvPr/>
              </p:nvSpPr>
              <p:spPr>
                <a:xfrm>
                  <a:off x="9998310" y="347120"/>
                  <a:ext cx="2051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BE0BE902-A568-44FF-944A-D0777630D4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8310" y="347120"/>
                  <a:ext cx="205190" cy="369332"/>
                </a:xfrm>
                <a:prstGeom prst="rect">
                  <a:avLst/>
                </a:prstGeom>
                <a:blipFill>
                  <a:blip r:embed="rId10"/>
                  <a:stretch>
                    <a:fillRect r="-7941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A7EB61A3-D4E1-4E6D-81C7-AC099273B862}"/>
                    </a:ext>
                  </a:extLst>
                </p:cNvPr>
                <p:cNvSpPr/>
                <p:nvPr/>
              </p:nvSpPr>
              <p:spPr>
                <a:xfrm>
                  <a:off x="7926205" y="509464"/>
                  <a:ext cx="5479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矩形 32">
                  <a:extLst>
                    <a:ext uri="{FF2B5EF4-FFF2-40B4-BE49-F238E27FC236}">
                      <a16:creationId xmlns:a16="http://schemas.microsoft.com/office/drawing/2014/main" id="{A7EB61A3-D4E1-4E6D-81C7-AC099273B8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205" y="509464"/>
                  <a:ext cx="54797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E843EF2B-A42E-4E31-835B-5184B6D006C7}"/>
                    </a:ext>
                  </a:extLst>
                </p:cNvPr>
                <p:cNvSpPr/>
                <p:nvPr/>
              </p:nvSpPr>
              <p:spPr>
                <a:xfrm>
                  <a:off x="9373550" y="311446"/>
                  <a:ext cx="5532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E843EF2B-A42E-4E31-835B-5184B6D006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3550" y="311446"/>
                  <a:ext cx="55329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6AA1412-9793-4D35-9969-25E71E20D847}"/>
                  </a:ext>
                </a:extLst>
              </p:cNvPr>
              <p:cNvSpPr txBox="1"/>
              <p:nvPr/>
            </p:nvSpPr>
            <p:spPr>
              <a:xfrm>
                <a:off x="4924640" y="5640169"/>
                <a:ext cx="63460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Head to tail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0,  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dirty="0"/>
                  <a:t>)         : 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∝−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dirty="0"/>
                  <a:t>   </a:t>
                </a:r>
                <a:r>
                  <a:rPr lang="en-US" altLang="zh-TW" dirty="0">
                    <a:sym typeface="Wingdings" panose="05000000000000000000" pitchFamily="2" charset="2"/>
                  </a:rPr>
                  <a:t>  attraction</a:t>
                </a:r>
                <a:r>
                  <a:rPr lang="en-US" altLang="zh-TW" dirty="0"/>
                  <a:t> </a:t>
                </a:r>
              </a:p>
              <a:p>
                <a:r>
                  <a:rPr lang="en-US" altLang="zh-TW" dirty="0"/>
                  <a:t>Side by side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/2,  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altLang="zh-TW" dirty="0"/>
                  <a:t>): 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∝+</m:t>
                    </m:r>
                    <m:f>
                      <m:fPr>
                        <m:type m:val="lin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zh-TW" altLang="en-US" dirty="0"/>
                  <a:t>   </a:t>
                </a:r>
                <a:r>
                  <a:rPr lang="en-US" altLang="zh-TW" dirty="0">
                    <a:sym typeface="Wingdings" panose="05000000000000000000" pitchFamily="2" charset="2"/>
                  </a:rPr>
                  <a:t>  repulsion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16AA1412-9793-4D35-9969-25E71E20D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4640" y="5640169"/>
                <a:ext cx="6346030" cy="646331"/>
              </a:xfrm>
              <a:prstGeom prst="rect">
                <a:avLst/>
              </a:prstGeom>
              <a:blipFill>
                <a:blip r:embed="rId13"/>
                <a:stretch>
                  <a:fillRect l="-865" t="-66981" b="-1009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49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5E4724-1658-4CB1-9766-C3F9CED8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Magnetic dipole interaction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4EA760D-4AAF-42FB-9BC5-F40F8943F3A2}"/>
              </a:ext>
            </a:extLst>
          </p:cNvPr>
          <p:cNvGrpSpPr>
            <a:grpSpLocks noChangeAspect="1"/>
          </p:cNvGrpSpPr>
          <p:nvPr/>
        </p:nvGrpSpPr>
        <p:grpSpPr>
          <a:xfrm>
            <a:off x="7926205" y="311446"/>
            <a:ext cx="2496526" cy="1350444"/>
            <a:chOff x="7926205" y="311446"/>
            <a:chExt cx="2496526" cy="1350444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4097BAF3-0708-4078-8193-755B89EC55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4977" y="428625"/>
              <a:ext cx="311348" cy="911558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ED092B46-E4B8-4078-9F56-F3753683A1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2150" y="352425"/>
              <a:ext cx="575072" cy="80010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單箭頭接點 6">
              <a:extLst>
                <a:ext uri="{FF2B5EF4-FFF2-40B4-BE49-F238E27FC236}">
                  <a16:creationId xmlns:a16="http://schemas.microsoft.com/office/drawing/2014/main" id="{08765751-CD3D-421E-9EE3-C488512AA176}"/>
                </a:ext>
              </a:extLst>
            </p:cNvPr>
            <p:cNvCxnSpPr/>
            <p:nvPr/>
          </p:nvCxnSpPr>
          <p:spPr>
            <a:xfrm flipV="1">
              <a:off x="8429625" y="742950"/>
              <a:ext cx="161925" cy="466725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776B283C-E8AE-41D2-AF6E-92E8C5466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5975" y="571500"/>
              <a:ext cx="304800" cy="404813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EEC7EAF-FC4E-49D5-9F73-FA780024D966}"/>
                </a:ext>
              </a:extLst>
            </p:cNvPr>
            <p:cNvCxnSpPr/>
            <p:nvPr/>
          </p:nvCxnSpPr>
          <p:spPr>
            <a:xfrm flipV="1">
              <a:off x="8501062" y="809625"/>
              <a:ext cx="1314450" cy="21828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C404C1F7-4CFA-45DD-B86E-A8D9548C0079}"/>
                </a:ext>
              </a:extLst>
            </p:cNvPr>
            <p:cNvCxnSpPr>
              <a:cxnSpLocks/>
            </p:cNvCxnSpPr>
            <p:nvPr/>
          </p:nvCxnSpPr>
          <p:spPr>
            <a:xfrm rot="-240000" flipV="1">
              <a:off x="9815512" y="723900"/>
              <a:ext cx="607219" cy="66676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57BC023B-C3B5-4F57-9DBF-048217759894}"/>
                    </a:ext>
                  </a:extLst>
                </p:cNvPr>
                <p:cNvSpPr txBox="1"/>
                <p:nvPr/>
              </p:nvSpPr>
              <p:spPr>
                <a:xfrm>
                  <a:off x="9768632" y="1170530"/>
                  <a:ext cx="2744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57BC023B-C3B5-4F57-9DBF-048217759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68632" y="1170530"/>
                  <a:ext cx="274439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2444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7C3CDE82-D611-4962-B782-2F75F618CD97}"/>
                    </a:ext>
                  </a:extLst>
                </p:cNvPr>
                <p:cNvSpPr txBox="1"/>
                <p:nvPr/>
              </p:nvSpPr>
              <p:spPr>
                <a:xfrm>
                  <a:off x="8444805" y="1292558"/>
                  <a:ext cx="2744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 i="0" smtClean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e>
                          <m:sub>
                            <m: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7C3CDE82-D611-4962-B782-2F75F618CD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4805" y="1292558"/>
                  <a:ext cx="274439" cy="369332"/>
                </a:xfrm>
                <a:prstGeom prst="rect">
                  <a:avLst/>
                </a:prstGeom>
                <a:blipFill>
                  <a:blip r:embed="rId3"/>
                  <a:stretch>
                    <a:fillRect r="-2222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6701515-9881-40C1-A62B-48706915BF1C}"/>
                    </a:ext>
                  </a:extLst>
                </p:cNvPr>
                <p:cNvSpPr txBox="1"/>
                <p:nvPr/>
              </p:nvSpPr>
              <p:spPr>
                <a:xfrm>
                  <a:off x="9051130" y="865264"/>
                  <a:ext cx="3516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56701515-9881-40C1-A62B-48706915B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1130" y="865264"/>
                  <a:ext cx="35163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弧形 13">
              <a:extLst>
                <a:ext uri="{FF2B5EF4-FFF2-40B4-BE49-F238E27FC236}">
                  <a16:creationId xmlns:a16="http://schemas.microsoft.com/office/drawing/2014/main" id="{C244DA69-96A3-4095-8F7E-811C2D07A766}"/>
                </a:ext>
              </a:extLst>
            </p:cNvPr>
            <p:cNvSpPr/>
            <p:nvPr/>
          </p:nvSpPr>
          <p:spPr>
            <a:xfrm>
              <a:off x="8404027" y="734502"/>
              <a:ext cx="434185" cy="459896"/>
            </a:xfrm>
            <a:prstGeom prst="arc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C00000"/>
                </a:solidFill>
              </a:endParaRPr>
            </a:p>
          </p:txBody>
        </p:sp>
        <p:sp>
          <p:nvSpPr>
            <p:cNvPr id="15" name="弧形 14">
              <a:extLst>
                <a:ext uri="{FF2B5EF4-FFF2-40B4-BE49-F238E27FC236}">
                  <a16:creationId xmlns:a16="http://schemas.microsoft.com/office/drawing/2014/main" id="{B7C5AE91-C28B-4CAB-AA4C-AAEE794A105D}"/>
                </a:ext>
              </a:extLst>
            </p:cNvPr>
            <p:cNvSpPr/>
            <p:nvPr/>
          </p:nvSpPr>
          <p:spPr>
            <a:xfrm>
              <a:off x="9573717" y="539196"/>
              <a:ext cx="610391" cy="530238"/>
            </a:xfrm>
            <a:prstGeom prst="arc">
              <a:avLst>
                <a:gd name="adj1" fmla="val 18177185"/>
                <a:gd name="adj2" fmla="val 20873896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04DED50F-5B79-40F0-9553-B8EB57ED1FAB}"/>
                    </a:ext>
                  </a:extLst>
                </p:cNvPr>
                <p:cNvSpPr txBox="1"/>
                <p:nvPr/>
              </p:nvSpPr>
              <p:spPr>
                <a:xfrm>
                  <a:off x="8666554" y="476576"/>
                  <a:ext cx="2051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04DED50F-5B79-40F0-9553-B8EB57ED1F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6554" y="476576"/>
                  <a:ext cx="205190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7878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D540394B-438E-41CE-9B99-D5F57C08F5B8}"/>
                    </a:ext>
                  </a:extLst>
                </p:cNvPr>
                <p:cNvSpPr txBox="1"/>
                <p:nvPr/>
              </p:nvSpPr>
              <p:spPr>
                <a:xfrm>
                  <a:off x="9998310" y="347120"/>
                  <a:ext cx="20519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字方塊 16">
                  <a:extLst>
                    <a:ext uri="{FF2B5EF4-FFF2-40B4-BE49-F238E27FC236}">
                      <a16:creationId xmlns:a16="http://schemas.microsoft.com/office/drawing/2014/main" id="{D540394B-438E-41CE-9B99-D5F57C08F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98310" y="347120"/>
                  <a:ext cx="205190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7941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AE74318-F546-4AE5-A847-A7CCA0753C7C}"/>
                    </a:ext>
                  </a:extLst>
                </p:cNvPr>
                <p:cNvSpPr/>
                <p:nvPr/>
              </p:nvSpPr>
              <p:spPr>
                <a:xfrm>
                  <a:off x="7926205" y="509464"/>
                  <a:ext cx="5479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  <m:sub>
                            <m:r>
                              <a:rPr lang="en-US" altLang="zh-TW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AE74318-F546-4AE5-A847-A7CCA0753C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205" y="509464"/>
                  <a:ext cx="547971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F608634D-EC40-49EE-8A2F-FA7FDCBB728F}"/>
                    </a:ext>
                  </a:extLst>
                </p:cNvPr>
                <p:cNvSpPr/>
                <p:nvPr/>
              </p:nvSpPr>
              <p:spPr>
                <a:xfrm>
                  <a:off x="9373550" y="311446"/>
                  <a:ext cx="55329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𝐦</m:t>
                            </m:r>
                          </m:e>
                          <m:sub>
                            <m:r>
                              <a:rPr lang="en-US" altLang="zh-TW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F608634D-EC40-49EE-8A2F-FA7FDCBB72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3550" y="311446"/>
                  <a:ext cx="55329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BD5353D-159E-438A-80D0-3240F07F867F}"/>
                  </a:ext>
                </a:extLst>
              </p:cNvPr>
              <p:cNvSpPr txBox="1"/>
              <p:nvPr/>
            </p:nvSpPr>
            <p:spPr>
              <a:xfrm>
                <a:off x="1543050" y="2527345"/>
                <a:ext cx="9105900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dip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 i="0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</m:d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̂"/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acc>
                            <m:accPr>
                              <m:chr m:val="̂"/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BD5353D-159E-438A-80D0-3240F07F8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050" y="2527345"/>
                <a:ext cx="9105900" cy="6127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5AFD4EA-BF96-46CC-9E88-9B0898BA912D}"/>
                  </a:ext>
                </a:extLst>
              </p:cNvPr>
              <p:cNvSpPr txBox="1"/>
              <p:nvPr/>
            </p:nvSpPr>
            <p:spPr>
              <a:xfrm>
                <a:off x="4505324" y="4181475"/>
                <a:ext cx="22383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𝛕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𝐦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𝐫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5AFD4EA-BF96-46CC-9E88-9B0898BA9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5324" y="4181475"/>
                <a:ext cx="2238375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B19470-D7B3-4EC3-8A6B-01AA8495AB18}"/>
                  </a:ext>
                </a:extLst>
              </p:cNvPr>
              <p:cNvSpPr txBox="1"/>
              <p:nvPr/>
            </p:nvSpPr>
            <p:spPr>
              <a:xfrm>
                <a:off x="3814762" y="5162550"/>
                <a:ext cx="3619500" cy="5648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1">
                                      <a:latin typeface="Cambria Math" panose="02040503050406030204" pitchFamily="18" charset="0"/>
                                    </a:rPr>
                                    <m:t>𝐦</m:t>
                                  </m:r>
                                </m:e>
                                <m:sub>
                                  <m: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1" i="0" smtClean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</m:e>
                              </m:acc>
                            </m:e>
                          </m:d>
                          <m:acc>
                            <m:accPr>
                              <m:chr m:val="̂"/>
                              <m:ctrlP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e>
                          </m:acc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1" i="0" smtClean="0">
                                  <a:latin typeface="Cambria Math" panose="02040503050406030204" pitchFamily="18" charset="0"/>
                                </a:rPr>
                                <m:t>𝐦</m:t>
                              </m:r>
                            </m:e>
                            <m:sub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EB19470-D7B3-4EC3-8A6B-01AA8495A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762" y="5162550"/>
                <a:ext cx="3619500" cy="5648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5306BD-3962-4A34-8153-16AA78E875E3}"/>
              </a:ext>
            </a:extLst>
          </p:cNvPr>
          <p:cNvSpPr txBox="1"/>
          <p:nvPr/>
        </p:nvSpPr>
        <p:spPr>
          <a:xfrm>
            <a:off x="2533650" y="4181475"/>
            <a:ext cx="1609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Torque</a:t>
            </a:r>
            <a:endParaRPr lang="zh-TW" altLang="en-US" sz="2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724A7843-33BA-4CD1-BD11-47CAD8471988}"/>
              </a:ext>
            </a:extLst>
          </p:cNvPr>
          <p:cNvSpPr txBox="1"/>
          <p:nvPr/>
        </p:nvSpPr>
        <p:spPr>
          <a:xfrm>
            <a:off x="1323975" y="1943701"/>
            <a:ext cx="2190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/>
              <a:t>Interparticle force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66603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F705FE-D9EC-42F1-9AD4-A0470D4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475"/>
            <a:ext cx="10515600" cy="1325563"/>
          </a:xfrm>
        </p:spPr>
        <p:txBody>
          <a:bodyPr/>
          <a:lstStyle/>
          <a:p>
            <a:r>
              <a:rPr lang="en-US" altLang="zh-TW" dirty="0"/>
              <a:t>Assignment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FFF34E-C32F-4256-8F91-E47F956926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1126"/>
                <a:ext cx="10515600" cy="5400674"/>
              </a:xfrm>
            </p:spPr>
            <p:txBody>
              <a:bodyPr>
                <a:noAutofit/>
              </a:bodyPr>
              <a:lstStyle/>
              <a:p>
                <a:r>
                  <a:rPr lang="en-US" altLang="zh-TW" sz="2400" dirty="0"/>
                  <a:t>Demonstrate the entropy of mixing with an </a:t>
                </a:r>
                <a:r>
                  <a:rPr lang="en-US" altLang="zh-TW" sz="2400" b="1" dirty="0"/>
                  <a:t>interactive webpage</a:t>
                </a:r>
                <a:r>
                  <a:rPr lang="en-US" altLang="zh-TW" sz="2400" dirty="0"/>
                  <a:t>.</a:t>
                </a:r>
                <a:r>
                  <a:rPr lang="zh-TW" altLang="en-US" sz="2400" dirty="0"/>
                  <a:t> </a:t>
                </a:r>
                <a:endParaRPr lang="en-US" altLang="zh-TW" sz="2400" dirty="0"/>
              </a:p>
              <a:p>
                <a:pPr lvl="1"/>
                <a:r>
                  <a:rPr lang="en-US" altLang="zh-TW" sz="2000" dirty="0"/>
                  <a:t>All the content you present is correct physics.   --- (1pt)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altLang="zh-TW" sz="2400" b="1" dirty="0"/>
                  <a:t>Questions</a:t>
                </a:r>
                <a:r>
                  <a:rPr lang="en-US" altLang="zh-TW" sz="2400" dirty="0"/>
                  <a:t>: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sz="2000" dirty="0"/>
                  <a:t>In the short-range interaction case, does the potential</a:t>
                </a:r>
                <a:r>
                  <a:rPr lang="zh-TW" altLang="en-US" sz="2000" dirty="0"/>
                  <a:t> </a:t>
                </a:r>
                <a:r>
                  <a:rPr lang="en-US" altLang="zh-TW" sz="2000" dirty="0"/>
                  <a:t>energy influence the entropy of mixing (after well mixing)? Why? Do we need to consider the momentum part?   --- (0.5pt)</a:t>
                </a:r>
              </a:p>
              <a:p>
                <a:pPr marL="514350" indent="-51435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zh-TW" sz="2000" dirty="0"/>
                  <a:t>In the Einstein solid, do we need to consider particle indistinguishability (for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sz="2000" dirty="0"/>
                  <a:t> particles on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TW" sz="2000" dirty="0"/>
                  <a:t> sites)? Why?   --- (0.5pt)</a:t>
                </a:r>
                <a:endParaRPr lang="en-US" altLang="zh-TW" sz="600" dirty="0"/>
              </a:p>
              <a:p>
                <a:pPr>
                  <a:lnSpc>
                    <a:spcPct val="150000"/>
                  </a:lnSpc>
                </a:pPr>
                <a:r>
                  <a:rPr lang="zh-TW" altLang="en-US" sz="2000" dirty="0"/>
                  <a:t>繳交一份 </a:t>
                </a:r>
                <a:r>
                  <a:rPr lang="en-US" altLang="zh-TW" sz="2000" dirty="0"/>
                  <a:t>.html </a:t>
                </a:r>
                <a:r>
                  <a:rPr lang="zh-TW" altLang="en-US" sz="2000" dirty="0"/>
                  <a:t>檔、一份 </a:t>
                </a:r>
                <a:r>
                  <a:rPr lang="en-US" altLang="zh-TW" sz="2000" dirty="0"/>
                  <a:t>.pdf </a:t>
                </a:r>
                <a:r>
                  <a:rPr lang="zh-TW" altLang="en-US" sz="2000" dirty="0"/>
                  <a:t>文字檔</a:t>
                </a:r>
                <a:endParaRPr lang="en-US" altLang="zh-TW" sz="2000" dirty="0"/>
              </a:p>
              <a:p>
                <a:pPr lvl="1">
                  <a:lnSpc>
                    <a:spcPct val="100000"/>
                  </a:lnSpc>
                </a:pPr>
                <a:r>
                  <a:rPr lang="zh-TW" altLang="en-US" sz="1800" dirty="0"/>
                  <a:t>說明網頁的演示內容、如何操作</a:t>
                </a:r>
                <a:endParaRPr lang="en-US" altLang="zh-TW" sz="1800" dirty="0"/>
              </a:p>
              <a:p>
                <a:pPr lvl="1">
                  <a:lnSpc>
                    <a:spcPct val="100000"/>
                  </a:lnSpc>
                </a:pPr>
                <a:r>
                  <a:rPr lang="zh-TW" altLang="en-US" sz="1800" dirty="0"/>
                  <a:t>算了哪些東西（如何計算）</a:t>
                </a:r>
                <a:endParaRPr lang="en-US" altLang="zh-TW" sz="1800" dirty="0"/>
              </a:p>
              <a:p>
                <a:pPr lvl="1">
                  <a:lnSpc>
                    <a:spcPct val="100000"/>
                  </a:lnSpc>
                </a:pPr>
                <a:r>
                  <a:rPr lang="zh-TW" altLang="en-US" sz="1800" dirty="0"/>
                  <a:t>原理與結論（我想知道你學到了什麼）</a:t>
                </a:r>
                <a:endParaRPr lang="en-US" altLang="zh-TW" sz="1800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sz="2000" dirty="0"/>
                  <a:t>清楚、看得懂  </a:t>
                </a:r>
                <a:r>
                  <a:rPr lang="zh-TW" altLang="en-US" sz="1800" dirty="0"/>
                  <a:t>（篇幅非重點）</a:t>
                </a:r>
                <a:endParaRPr lang="en-US" altLang="zh-TW" sz="1800" dirty="0"/>
              </a:p>
              <a:p>
                <a:pPr>
                  <a:lnSpc>
                    <a:spcPct val="100000"/>
                  </a:lnSpc>
                </a:pPr>
                <a:r>
                  <a:rPr lang="zh-TW" altLang="en-US" sz="2000" dirty="0"/>
                  <a:t>回答兩題 </a:t>
                </a:r>
                <a:r>
                  <a:rPr lang="en-US" altLang="zh-TW" sz="2000" dirty="0"/>
                  <a:t>Questions</a:t>
                </a:r>
                <a:r>
                  <a:rPr lang="zh-TW" altLang="en-US" sz="2000" dirty="0"/>
                  <a:t>。</a:t>
                </a:r>
                <a:endParaRPr lang="en-US" altLang="zh-TW" sz="20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4FFF34E-C32F-4256-8F91-E47F956926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1126"/>
                <a:ext cx="10515600" cy="5400674"/>
              </a:xfrm>
              <a:blipFill>
                <a:blip r:embed="rId2"/>
                <a:stretch>
                  <a:fillRect l="-812" t="-15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67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B2B75E-7824-4AA8-AF21-EB7033F88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4000" dirty="0"/>
              <a:t>Indistinguishable configuration </a:t>
            </a:r>
            <a:br>
              <a:rPr lang="en-US" altLang="zh-TW" sz="3600" dirty="0"/>
            </a:br>
            <a:r>
              <a:rPr lang="en-US" altLang="zh-TW" sz="3600" dirty="0"/>
              <a:t>			 </a:t>
            </a:r>
            <a:r>
              <a:rPr lang="en-US" altLang="zh-TW" sz="3300" dirty="0"/>
              <a:t>--- Rotational symmetry of polyatomic molecules</a:t>
            </a:r>
            <a:endParaRPr lang="zh-TW" altLang="en-US" sz="3300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C47CFDCD-0251-465A-A604-D7CE8D31F27C}"/>
              </a:ext>
            </a:extLst>
          </p:cNvPr>
          <p:cNvGrpSpPr>
            <a:grpSpLocks noChangeAspect="1"/>
          </p:cNvGrpSpPr>
          <p:nvPr/>
        </p:nvGrpSpPr>
        <p:grpSpPr>
          <a:xfrm>
            <a:off x="5143270" y="1739534"/>
            <a:ext cx="2662466" cy="2004360"/>
            <a:chOff x="7981950" y="2077902"/>
            <a:chExt cx="2857500" cy="2151186"/>
          </a:xfrm>
        </p:grpSpPr>
        <p:pic>
          <p:nvPicPr>
            <p:cNvPr id="3080" name="Picture 8" descr="Ammonia Structure: Understanding the Trigonal Pyramidal Shape">
              <a:extLst>
                <a:ext uri="{FF2B5EF4-FFF2-40B4-BE49-F238E27FC236}">
                  <a16:creationId xmlns:a16="http://schemas.microsoft.com/office/drawing/2014/main" id="{CE727382-9F2C-4466-87E6-4859338B22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393"/>
            <a:stretch/>
          </p:blipFill>
          <p:spPr bwMode="auto">
            <a:xfrm>
              <a:off x="7981950" y="2077902"/>
              <a:ext cx="2857500" cy="2151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5E1DE6AC-1B8C-4598-9121-6B8A6C039030}"/>
                    </a:ext>
                  </a:extLst>
                </p:cNvPr>
                <p:cNvSpPr txBox="1"/>
                <p:nvPr/>
              </p:nvSpPr>
              <p:spPr>
                <a:xfrm>
                  <a:off x="8022430" y="3063464"/>
                  <a:ext cx="4857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5E1DE6AC-1B8C-4598-9121-6B8A6C0390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2430" y="3063464"/>
                  <a:ext cx="485775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40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C1837CA6-E776-4527-B7A6-F61AA9901A19}"/>
                    </a:ext>
                  </a:extLst>
                </p:cNvPr>
                <p:cNvSpPr txBox="1"/>
                <p:nvPr/>
              </p:nvSpPr>
              <p:spPr>
                <a:xfrm>
                  <a:off x="10276772" y="3146642"/>
                  <a:ext cx="4857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C1837CA6-E776-4527-B7A6-F61AA9901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6772" y="3146642"/>
                  <a:ext cx="485775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EE2F227-02A5-436E-97C8-8ED3082D8A81}"/>
                    </a:ext>
                  </a:extLst>
                </p:cNvPr>
                <p:cNvSpPr txBox="1"/>
                <p:nvPr/>
              </p:nvSpPr>
              <p:spPr>
                <a:xfrm>
                  <a:off x="8834438" y="3374497"/>
                  <a:ext cx="4857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2EE2F227-02A5-436E-97C8-8ED3082D8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4438" y="3374497"/>
                  <a:ext cx="485775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AF594AD-86E0-42C7-95C0-79BB519C809B}"/>
                    </a:ext>
                  </a:extLst>
                </p:cNvPr>
                <p:cNvSpPr txBox="1"/>
                <p:nvPr/>
              </p:nvSpPr>
              <p:spPr>
                <a:xfrm>
                  <a:off x="9058275" y="2533252"/>
                  <a:ext cx="48577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800" i="1">
                            <a:latin typeface="Cambria Math" panose="02040503050406030204" pitchFamily="18" charset="0"/>
                          </a:rPr>
                          <m:t>N</m:t>
                        </m:r>
                      </m:oMath>
                    </m:oMathPara>
                  </a14:m>
                  <a:endParaRPr lang="zh-TW" altLang="en-US" sz="28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AF594AD-86E0-42C7-95C0-79BB519C8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8275" y="2533252"/>
                  <a:ext cx="485775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89D9008-D61E-4AB5-AFD2-71F811B0E7DF}"/>
                  </a:ext>
                </a:extLst>
              </p:cNvPr>
              <p:cNvSpPr txBox="1"/>
              <p:nvPr/>
            </p:nvSpPr>
            <p:spPr>
              <a:xfrm>
                <a:off x="3533774" y="1850160"/>
                <a:ext cx="275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NH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altLang="zh-TW" i="0">
                          <a:latin typeface="Cambria Math" panose="02040503050406030204" pitchFamily="18" charset="0"/>
                        </a:rPr>
                        <m:t>Ammonia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zh-TW" altLang="en-US">
                          <a:latin typeface="Cambria Math" panose="02040503050406030204" pitchFamily="18" charset="0"/>
                        </a:rPr>
                        <m:t>氨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89D9008-D61E-4AB5-AFD2-71F811B0E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774" y="1850160"/>
                <a:ext cx="2752725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36E1E5C8-92C1-4380-865E-93016BEA4E52}"/>
              </a:ext>
            </a:extLst>
          </p:cNvPr>
          <p:cNvGrpSpPr/>
          <p:nvPr/>
        </p:nvGrpSpPr>
        <p:grpSpPr>
          <a:xfrm>
            <a:off x="569274" y="5335081"/>
            <a:ext cx="7069776" cy="1037450"/>
            <a:chOff x="569274" y="5335081"/>
            <a:chExt cx="7069776" cy="1037450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15C68AF2-6979-4A3B-B99D-6ACF1C44B55E}"/>
                </a:ext>
              </a:extLst>
            </p:cNvPr>
            <p:cNvSpPr txBox="1"/>
            <p:nvPr/>
          </p:nvSpPr>
          <p:spPr>
            <a:xfrm>
              <a:off x="582866" y="5335081"/>
              <a:ext cx="65345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/>
                <a:t>What would happen if we didn’t consider the </a:t>
              </a:r>
              <a:r>
                <a:rPr lang="en-US" altLang="zh-TW" b="1" dirty="0"/>
                <a:t>rotational symmetry</a:t>
              </a:r>
              <a:r>
                <a:rPr lang="en-US" altLang="zh-TW" dirty="0"/>
                <a:t>? </a:t>
              </a:r>
              <a:endParaRPr lang="zh-TW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DD397A0E-F90E-4CBE-8E19-9487E13B2DC5}"/>
                    </a:ext>
                  </a:extLst>
                </p:cNvPr>
                <p:cNvSpPr/>
                <p:nvPr/>
              </p:nvSpPr>
              <p:spPr>
                <a:xfrm>
                  <a:off x="569274" y="5701513"/>
                  <a:ext cx="7069776" cy="67101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TW" dirty="0"/>
                    <a:t>Chemical equilibrium constants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eq</m:t>
                          </m:r>
                        </m:sub>
                      </m:sSub>
                    </m:oMath>
                  </a14:m>
                  <a:r>
                    <a:rPr lang="en-US" altLang="zh-TW" dirty="0"/>
                    <a:t> to predict the chemical reactions. 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zh-TW" dirty="0"/>
                    <a:t>Calculates the reaction rate from the partition function.</a:t>
                  </a:r>
                  <a:endParaRPr lang="zh-TW" altLang="en-US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DD397A0E-F90E-4CBE-8E19-9487E13B2D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274" y="5701513"/>
                  <a:ext cx="7069776" cy="671018"/>
                </a:xfrm>
                <a:prstGeom prst="rect">
                  <a:avLst/>
                </a:prstGeom>
                <a:blipFill>
                  <a:blip r:embed="rId15"/>
                  <a:stretch>
                    <a:fillRect l="-517" t="-3636" r="-431" b="-13636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050" name="Picture 2" descr="CH4 甲烷的化学公式3D 化学结构3D 插图| Premium照片">
            <a:extLst>
              <a:ext uri="{FF2B5EF4-FFF2-40B4-BE49-F238E27FC236}">
                <a16:creationId xmlns:a16="http://schemas.microsoft.com/office/drawing/2014/main" id="{1DAD53F4-381F-446B-A96A-CB7BDBAEE4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9"/>
          <a:stretch/>
        </p:blipFill>
        <p:spPr bwMode="auto">
          <a:xfrm>
            <a:off x="9186863" y="1725189"/>
            <a:ext cx="2290004" cy="215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F81DB4A-C937-42B2-9DA0-CA249091CD21}"/>
                  </a:ext>
                </a:extLst>
              </p:cNvPr>
              <p:cNvSpPr txBox="1"/>
              <p:nvPr/>
            </p:nvSpPr>
            <p:spPr>
              <a:xfrm>
                <a:off x="7312816" y="1929627"/>
                <a:ext cx="275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i="0">
                          <a:latin typeface="Cambria Math" panose="02040503050406030204" pitchFamily="18" charset="0"/>
                        </a:rPr>
                        <m:t>Methane</m:t>
                      </m:r>
                      <m:r>
                        <a:rPr lang="zh-TW" altLang="en-US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甲烷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F81DB4A-C937-42B2-9DA0-CA249091C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816" y="1929627"/>
                <a:ext cx="2752725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C6H6 苯的化学公式3D 化学结构3D 插图| Premium照片">
            <a:extLst>
              <a:ext uri="{FF2B5EF4-FFF2-40B4-BE49-F238E27FC236}">
                <a16:creationId xmlns:a16="http://schemas.microsoft.com/office/drawing/2014/main" id="{F9AA4C81-0DB2-4A0C-A826-44A96AE0BD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0" b="3194"/>
          <a:stretch/>
        </p:blipFill>
        <p:spPr bwMode="auto">
          <a:xfrm>
            <a:off x="9003772" y="4075236"/>
            <a:ext cx="2857500" cy="267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A81C3A4-78C9-48CD-B396-752843B7DAB2}"/>
                  </a:ext>
                </a:extLst>
              </p:cNvPr>
              <p:cNvSpPr txBox="1"/>
              <p:nvPr/>
            </p:nvSpPr>
            <p:spPr>
              <a:xfrm>
                <a:off x="7507772" y="4104427"/>
                <a:ext cx="275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Benzene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苯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A81C3A4-78C9-48CD-B396-752843B7D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772" y="4104427"/>
                <a:ext cx="2752725" cy="369332"/>
              </a:xfrm>
              <a:prstGeom prst="rect">
                <a:avLst/>
              </a:prstGeom>
              <a:blipFill>
                <a:blip r:embed="rId1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BC093647-63B4-4BB9-AD4E-97C0C621EFBB}"/>
              </a:ext>
            </a:extLst>
          </p:cNvPr>
          <p:cNvGrpSpPr>
            <a:grpSpLocks noChangeAspect="1"/>
          </p:cNvGrpSpPr>
          <p:nvPr/>
        </p:nvGrpSpPr>
        <p:grpSpPr>
          <a:xfrm>
            <a:off x="1195734" y="1948819"/>
            <a:ext cx="2247693" cy="1325563"/>
            <a:chOff x="2024060" y="2493406"/>
            <a:chExt cx="2752725" cy="1623402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A89B205E-6EF5-4792-9268-3F34FB2B8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024060" y="2493406"/>
              <a:ext cx="2752725" cy="162340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5AEDD628-2B49-41AE-A68B-DB680B9C3A23}"/>
                    </a:ext>
                  </a:extLst>
                </p:cNvPr>
                <p:cNvSpPr txBox="1"/>
                <p:nvPr/>
              </p:nvSpPr>
              <p:spPr>
                <a:xfrm>
                  <a:off x="3157534" y="2667718"/>
                  <a:ext cx="48577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oMath>
                    </m:oMathPara>
                  </a14:m>
                  <a:endParaRPr lang="zh-TW" alt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5AEDD628-2B49-41AE-A68B-DB680B9C3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534" y="2667718"/>
                  <a:ext cx="485775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E4B1770-4196-49FC-AD2D-310B8C8837DA}"/>
                    </a:ext>
                  </a:extLst>
                </p:cNvPr>
                <p:cNvSpPr txBox="1"/>
                <p:nvPr/>
              </p:nvSpPr>
              <p:spPr>
                <a:xfrm>
                  <a:off x="4157659" y="3466999"/>
                  <a:ext cx="4857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E4B1770-4196-49FC-AD2D-310B8C883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7659" y="3466999"/>
                  <a:ext cx="485775" cy="461665"/>
                </a:xfrm>
                <a:prstGeom prst="rect">
                  <a:avLst/>
                </a:prstGeom>
                <a:blipFill>
                  <a:blip r:embed="rId22"/>
                  <a:stretch>
                    <a:fillRect l="-4615" r="-1538" b="-161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EEFA868-FCA4-4005-839F-2B66A59BA189}"/>
                    </a:ext>
                  </a:extLst>
                </p:cNvPr>
                <p:cNvSpPr txBox="1"/>
                <p:nvPr/>
              </p:nvSpPr>
              <p:spPr>
                <a:xfrm>
                  <a:off x="2162173" y="3453780"/>
                  <a:ext cx="485775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EEFA868-FCA4-4005-839F-2B66A59BA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2173" y="3453780"/>
                  <a:ext cx="485775" cy="461665"/>
                </a:xfrm>
                <a:prstGeom prst="rect">
                  <a:avLst/>
                </a:prstGeom>
                <a:blipFill>
                  <a:blip r:embed="rId23"/>
                  <a:stretch>
                    <a:fillRect l="-4615" r="-1538" b="-161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4BEB204-6084-4F57-B7E5-1F60F0A25581}"/>
                  </a:ext>
                </a:extLst>
              </p:cNvPr>
              <p:cNvSpPr txBox="1"/>
              <p:nvPr/>
            </p:nvSpPr>
            <p:spPr>
              <a:xfrm>
                <a:off x="-509819" y="1920146"/>
                <a:ext cx="27527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O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4BEB204-6084-4F57-B7E5-1F60F0A25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09819" y="1920146"/>
                <a:ext cx="2752725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A1ABDE9E-0679-458E-9A4D-B347261985B5}"/>
              </a:ext>
            </a:extLst>
          </p:cNvPr>
          <p:cNvGrpSpPr>
            <a:grpSpLocks noChangeAspect="1"/>
          </p:cNvGrpSpPr>
          <p:nvPr/>
        </p:nvGrpSpPr>
        <p:grpSpPr>
          <a:xfrm>
            <a:off x="1025778" y="3721355"/>
            <a:ext cx="5534450" cy="1412766"/>
            <a:chOff x="571075" y="3967784"/>
            <a:chExt cx="5534450" cy="1412766"/>
          </a:xfrm>
        </p:grpSpPr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9FB48EC6-8865-42C8-952B-21C0A61912EC}"/>
                </a:ext>
              </a:extLst>
            </p:cNvPr>
            <p:cNvGrpSpPr/>
            <p:nvPr/>
          </p:nvGrpSpPr>
          <p:grpSpPr>
            <a:xfrm>
              <a:off x="571075" y="3967784"/>
              <a:ext cx="5062531" cy="1028875"/>
              <a:chOff x="954766" y="4135692"/>
              <a:chExt cx="5062531" cy="102887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7F7F2786-7F9E-4325-BBCC-12376E4C4AEE}"/>
                      </a:ext>
                    </a:extLst>
                  </p:cNvPr>
                  <p:cNvSpPr txBox="1"/>
                  <p:nvPr/>
                </p:nvSpPr>
                <p:spPr>
                  <a:xfrm>
                    <a:off x="954766" y="4489510"/>
                    <a:ext cx="5062531" cy="6750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rot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</m:nary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TW" b="0" i="0" smtClean="0">
                                              <a:latin typeface="Cambria Math" panose="02040503050406030204" pitchFamily="18" charset="0"/>
                                            </a:rPr>
                                            <m:t>rot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nary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m:oMathPara>
                    </a14:m>
                    <a:endParaRPr lang="zh-TW" altLang="en-US" i="1" dirty="0"/>
                  </a:p>
                </p:txBody>
              </p:sp>
            </mc:Choice>
            <mc:Fallback xmlns="">
              <p:sp>
                <p:nvSpPr>
                  <p:cNvPr id="14" name="文字方塊 13">
                    <a:extLst>
                      <a:ext uri="{FF2B5EF4-FFF2-40B4-BE49-F238E27FC236}">
                        <a16:creationId xmlns:a16="http://schemas.microsoft.com/office/drawing/2014/main" id="{7F7F2786-7F9E-4325-BBCC-12376E4C4A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766" y="4489510"/>
                    <a:ext cx="5062531" cy="67505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11B756F-9639-4161-B6A2-005704A219B2}"/>
                  </a:ext>
                </a:extLst>
              </p:cNvPr>
              <p:cNvSpPr txBox="1"/>
              <p:nvPr/>
            </p:nvSpPr>
            <p:spPr>
              <a:xfrm>
                <a:off x="966557" y="4135692"/>
                <a:ext cx="3022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u="sng" dirty="0"/>
                  <a:t>Partition function of rotation</a:t>
                </a:r>
                <a:endParaRPr lang="zh-TW" altLang="en-US" u="sng" dirty="0"/>
              </a:p>
            </p:txBody>
          </p:sp>
        </p:grp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00C5A7F-4D80-444A-8F92-630774D9A073}"/>
                </a:ext>
              </a:extLst>
            </p:cNvPr>
            <p:cNvSpPr txBox="1"/>
            <p:nvPr/>
          </p:nvSpPr>
          <p:spPr>
            <a:xfrm>
              <a:off x="1626188" y="4980440"/>
              <a:ext cx="44793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</a:rPr>
                <a:t>How many identical configurations? </a:t>
              </a:r>
              <a:endParaRPr lang="zh-TW" alt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24" name="弧形 23">
              <a:extLst>
                <a:ext uri="{FF2B5EF4-FFF2-40B4-BE49-F238E27FC236}">
                  <a16:creationId xmlns:a16="http://schemas.microsoft.com/office/drawing/2014/main" id="{1D87A8A2-ABA5-4611-B6C0-738ACAAADD7E}"/>
                </a:ext>
              </a:extLst>
            </p:cNvPr>
            <p:cNvSpPr/>
            <p:nvPr/>
          </p:nvSpPr>
          <p:spPr>
            <a:xfrm>
              <a:off x="1433941" y="4736989"/>
              <a:ext cx="299914" cy="475083"/>
            </a:xfrm>
            <a:prstGeom prst="arc">
              <a:avLst>
                <a:gd name="adj1" fmla="val 4569815"/>
                <a:gd name="adj2" fmla="val 11119967"/>
              </a:avLst>
            </a:prstGeom>
            <a:ln w="1270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2D96AAB-B73E-489E-BB85-D51078D53322}"/>
                  </a:ext>
                </a:extLst>
              </p:cNvPr>
              <p:cNvSpPr txBox="1"/>
              <p:nvPr/>
            </p:nvSpPr>
            <p:spPr>
              <a:xfrm>
                <a:off x="446597" y="2611600"/>
                <a:ext cx="5971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22D96AAB-B73E-489E-BB85-D51078D53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97" y="2611600"/>
                <a:ext cx="597153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00F6770-E69D-43DA-9095-67D4A7FC6276}"/>
                  </a:ext>
                </a:extLst>
              </p:cNvPr>
              <p:cNvSpPr txBox="1"/>
              <p:nvPr/>
            </p:nvSpPr>
            <p:spPr>
              <a:xfrm>
                <a:off x="4466922" y="2449972"/>
                <a:ext cx="5971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000F6770-E69D-43DA-9095-67D4A7FC62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922" y="2449972"/>
                <a:ext cx="597153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EE24C65-021D-4F96-BFF0-627A5D4F7D5B}"/>
                  </a:ext>
                </a:extLst>
              </p:cNvPr>
              <p:cNvSpPr txBox="1"/>
              <p:nvPr/>
            </p:nvSpPr>
            <p:spPr>
              <a:xfrm>
                <a:off x="8705195" y="2480005"/>
                <a:ext cx="5971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4EE24C65-021D-4F96-BFF0-627A5D4F7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195" y="2480005"/>
                <a:ext cx="597153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553B2F3-EC82-41CE-82D2-0C48612A3424}"/>
                  </a:ext>
                </a:extLst>
              </p:cNvPr>
              <p:cNvSpPr txBox="1"/>
              <p:nvPr/>
            </p:nvSpPr>
            <p:spPr>
              <a:xfrm>
                <a:off x="8482163" y="4903288"/>
                <a:ext cx="5971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553B2F3-EC82-41CE-82D2-0C48612A3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163" y="4903288"/>
                <a:ext cx="597153" cy="46166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72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32" grpId="0"/>
      <p:bldP spid="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31.946"/>
  <p:tag name="LATEXADDIN" val="\documentclass{article}&#10;\usepackage{amsmath}&#10;\pagestyle{empty}&#10;\usepackage[dvipsnames]{xcolor}&#10;\begin{document}&#10;\color{white}&#10;\begin{eqnarray*}&#10;\phi(\vec{r}_1, \vec{r}_2)&#10;\end{eqnarray*}&#10;\end{document}"/>
  <p:tag name="IGUANATEXSIZE" val="16"/>
  <p:tag name="IGUANATEXCURSOR" val="14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290.589"/>
  <p:tag name="LATEXADDIN" val="\documentclass{article}&#10;\usepackage{amsmath}&#10;\pagestyle{empty}&#10;\usepackage[dvipsnames]{xcolor}&#10;\begin{document}&#10;\color{white}&#10;\begin{eqnarray*}&#10;|\phi(\vec{r}_1, \vec{r}_2)|^2 = |\phi(\vec{r}_2, \vec{r}_1)|^2&#10;\end{eqnarray*}&#10;\end{document}"/>
  <p:tag name="IGUANATEXSIZE" val="16"/>
  <p:tag name="IGUANATEXCURSOR" val="181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48.369"/>
  <p:tag name="LATEXADDIN" val="\documentclass{article}&#10;\usepackage{amsmath}&#10;\pagestyle{empty}&#10;\usepackage[dvipsnames]{xcolor}&#10;\begin{document}&#10;\color{white}&#10;\begin{eqnarray*}&#10;\phi(\vec{r}_1, \vec{r}_2) = \phi(\vec{r}_2, \vec{r}_1)&#10;\end{eqnarray*}&#10;\end{document}"/>
  <p:tag name="IGUANATEXSIZE" val="16"/>
  <p:tag name="IGUANATEXCURSOR" val="17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45.107"/>
  <p:tag name="LATEXADDIN" val="\documentclass{article}&#10;\usepackage{amsmath}&#10;\pagestyle{empty}&#10;\usepackage[dvipsnames]{xcolor}&#10;\begin{document}&#10;\color{white}&#10;\begin{eqnarray*}&#10;\phi(\vec{r}_1, \vec{r}_2) = - \phi(\vec{r}_2, \vec{r}_1)&#10;\end{eqnarray*}&#10;\end{document}"/>
  <p:tag name="IGUANATEXSIZE" val="16"/>
  <p:tag name="IGUANATEXCURSOR" val="17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785.9017"/>
  <p:tag name="LATEXADDIN" val="\documentclass{article}&#10;\usepackage{amsmath}&#10;\pagestyle{empty}&#10;\usepackage[dvipsnames]{xcolor}&#10;\begin{document}&#10;\color{white}&#10;\begin{eqnarray*}&#10;= \psi_i(\vec{r}_1) \psi_j(\vec{r}_2)&#10;\end{eqnarray*}&#10;\end{document}"/>
  <p:tag name="IGUANATEXSIZE" val="16"/>
  <p:tag name="IGUANATEXCURSOR" val="18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08.7364"/>
  <p:tag name="LATEXADDIN" val="\documentclass{article}&#10;\usepackage{amsmath}&#10;\pagestyle{empty}&#10;\usepackage[dvipsnames]{xcolor}&#10;\begin{document}&#10;\color{white}&#10;\begin{eqnarray*}&#10;\psi_i&#10;\end{eqnarray*}&#10;\end{document}"/>
  <p:tag name="IGUANATEXSIZE" val="16"/>
  <p:tag name="IGUANATEXCURSOR" val="15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2097.488"/>
  <p:tag name="LATEXADDIN" val="\documentclass{article}&#10;\usepackage{amsmath}&#10;\pagestyle{empty}&#10;\usepackage[dvipsnames]{xcolor}&#10;\begin{document}&#10;\color{white}&#10;\begin{eqnarray*}&#10;\phi(\vec{r}_1, \vec{r}_2)&#10;= \psi_i(\vec{r}_1) \psi_j(\vec{r}_2)&#10;+ \psi_i(\vec{r}_2) \psi_j(\vec{r}_1)&#10;\end{eqnarray*}&#10;\end{document}"/>
  <p:tag name="IGUANATEXSIZE" val="16"/>
  <p:tag name="IGUANATEXCURSOR" val="17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2097.488"/>
  <p:tag name="LATEXADDIN" val="\documentclass{article}&#10;\usepackage{amsmath}&#10;\pagestyle{empty}&#10;\usepackage[dvipsnames]{xcolor}&#10;\begin{document}&#10;\color{white}&#10;\begin{eqnarray*}&#10;\phi(\vec{r}_1, \vec{r}_2) = \psi_i(\vec{r}_1) \psi_j(\vec{r}_2)&#10;- \psi_i(\vec{r}_2) \psi_j(\vec{r}_1)&#10;\end{eqnarray*}&#10;\end{document}"/>
  <p:tag name="IGUANATEXSIZE" val="16"/>
  <p:tag name="IGUANATEXCURSOR" val="21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11.961"/>
  <p:tag name="LATEXADDIN" val="\documentclass{article}&#10;\usepackage{amsmath}&#10;\pagestyle{empty}&#10;\usepackage[dvipsnames]{xcolor}&#10;\begin{document}&#10;\color{white}&#10;\begin{eqnarray*}&#10;\phi(\vec{r}_1, \vec{r}_2) = \psi_i(\vec{r}_1) \psi_i(\vec{r}_2)&#10;- \psi_i(\vec{r}_2) \psi_i(\vec{r}_1) = 0&#10;\end{eqnarray*}&#10;\end{document}"/>
  <p:tag name="IGUANATEXSIZE" val="16"/>
  <p:tag name="IGUANATEXCURSOR" val="250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2366"/>
  <p:tag name="ORIGINALWIDTH" val="255.718"/>
  <p:tag name="LATEXADDIN" val="\documentclass{article}&#10;\usepackage{amsmath}&#10;\pagestyle{empty}&#10;\usepackage[dvipsnames]{xcolor}&#10;\begin{document}&#10;\color{white}&#10;\begin{eqnarray*}&#10;i = j&#10;\end{eqnarray*}&#10;\end{document}"/>
  <p:tag name="IGUANATEXSIZE" val="16"/>
  <p:tag name="IGUANATEXCURSOR" val="149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P_SEDUC_TXT_Board">
  <a:themeElements>
    <a:clrScheme name="">
      <a:dk1>
        <a:srgbClr val="B2B2B2"/>
      </a:dk1>
      <a:lt1>
        <a:srgbClr val="FFFFFF"/>
      </a:lt1>
      <a:dk2>
        <a:srgbClr val="B2B2B2"/>
      </a:dk2>
      <a:lt2>
        <a:srgbClr val="000000"/>
      </a:lt2>
      <a:accent1>
        <a:srgbClr val="BBE0E3"/>
      </a:accent1>
      <a:accent2>
        <a:srgbClr val="333399"/>
      </a:accent2>
      <a:accent3>
        <a:srgbClr val="D5D5D5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PP_SEDUC_TXT_Boar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PP_SEDUC_TXT_Boar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P_SEDUC_TXT_Board 13">
        <a:dk1>
          <a:srgbClr val="000000"/>
        </a:dk1>
        <a:lt1>
          <a:srgbClr val="FFFFFF"/>
        </a:lt1>
        <a:dk2>
          <a:srgbClr val="660033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14">
        <a:dk1>
          <a:srgbClr val="000000"/>
        </a:dk1>
        <a:lt1>
          <a:srgbClr val="FFFFFF"/>
        </a:lt1>
        <a:dk2>
          <a:srgbClr val="8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15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P_SEDUC_TXT_Board 16">
        <a:dk1>
          <a:srgbClr val="000000"/>
        </a:dk1>
        <a:lt1>
          <a:srgbClr val="B2B2B2"/>
        </a:lt1>
        <a:dk2>
          <a:srgbClr val="FFFFFF"/>
        </a:dk2>
        <a:lt2>
          <a:srgbClr val="B2B2B2"/>
        </a:lt2>
        <a:accent1>
          <a:srgbClr val="BBE0E3"/>
        </a:accent1>
        <a:accent2>
          <a:srgbClr val="333399"/>
        </a:accent2>
        <a:accent3>
          <a:srgbClr val="D5D5D5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16801</TotalTime>
  <Words>1528</Words>
  <Application>Microsoft Office PowerPoint</Application>
  <PresentationFormat>寬螢幕</PresentationFormat>
  <Paragraphs>243</Paragraphs>
  <Slides>20</Slides>
  <Notes>1</Notes>
  <HiddenSlides>1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31" baseType="lpstr">
      <vt:lpstr>squeaky chalk sound</vt:lpstr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PPP_SEDUC_TXT_Board</vt:lpstr>
      <vt:lpstr>Gibbs Paradox &amp;  Particle Indistinguishability</vt:lpstr>
      <vt:lpstr>PowerPoint 簡報</vt:lpstr>
      <vt:lpstr>Entropy – extensivity</vt:lpstr>
      <vt:lpstr>Long-range or short-range?</vt:lpstr>
      <vt:lpstr>Entropy – an extensive quantity for Ideal Gas</vt:lpstr>
      <vt:lpstr>Demo</vt:lpstr>
      <vt:lpstr>PowerPoint 簡報</vt:lpstr>
      <vt:lpstr>PowerPoint 簡報</vt:lpstr>
      <vt:lpstr>PowerPoint 簡報</vt:lpstr>
      <vt:lpstr>Identical particles</vt:lpstr>
      <vt:lpstr>PowerPoint 簡報</vt:lpstr>
      <vt:lpstr>Surface chemistry --- Langmuir adsorption (吸附) model</vt:lpstr>
      <vt:lpstr>Demo</vt:lpstr>
      <vt:lpstr>Demo</vt:lpstr>
      <vt:lpstr>Gibbs entropy</vt:lpstr>
      <vt:lpstr>Interaction example in the Demo</vt:lpstr>
      <vt:lpstr>Magnetic dipole interaction</vt:lpstr>
      <vt:lpstr>Magnetic dipole interaction</vt:lpstr>
      <vt:lpstr>Assignment</vt:lpstr>
      <vt:lpstr>Indistinguishable configuration      --- Rotational symmetry of polyatomic molecules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ASUS</dc:creator>
  <cp:lastModifiedBy>ASUS</cp:lastModifiedBy>
  <cp:revision>389</cp:revision>
  <dcterms:created xsi:type="dcterms:W3CDTF">2026-09-27T05:43:57Z</dcterms:created>
  <dcterms:modified xsi:type="dcterms:W3CDTF">2026-10-14T12:16:58Z</dcterms:modified>
</cp:coreProperties>
</file>